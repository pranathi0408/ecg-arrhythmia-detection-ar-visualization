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57" r:id="rId4"/>
    <p:sldId id="280" r:id="rId5"/>
    <p:sldId id="281" r:id="rId6"/>
    <p:sldId id="282" r:id="rId7"/>
    <p:sldId id="283" r:id="rId8"/>
    <p:sldId id="284" r:id="rId9"/>
    <p:sldId id="285" r:id="rId10"/>
    <p:sldId id="262" r:id="rId11"/>
    <p:sldId id="263" r:id="rId12"/>
    <p:sldId id="286" r:id="rId13"/>
    <p:sldId id="288" r:id="rId14"/>
    <p:sldId id="287" r:id="rId15"/>
    <p:sldId id="289" r:id="rId16"/>
    <p:sldId id="271" r:id="rId17"/>
    <p:sldId id="274" r:id="rId18"/>
    <p:sldId id="273" r:id="rId19"/>
    <p:sldId id="272" r:id="rId20"/>
    <p:sldId id="278" r:id="rId21"/>
    <p:sldId id="277" r:id="rId22"/>
    <p:sldId id="276" r:id="rId23"/>
    <p:sldId id="275" r:id="rId24"/>
    <p:sldId id="265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23BE35-3FBF-49B8-8EA1-233703C632FF}" v="11" dt="2026-03-30T07:13:47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thi k" userId="52cbb80a9ecb9c98" providerId="LiveId" clId="{18166A21-874D-40B5-A294-051A73821E4B}"/>
    <pc:docChg chg="undo redo custSel addSld modSld">
      <pc:chgData name="pranathi k" userId="52cbb80a9ecb9c98" providerId="LiveId" clId="{18166A21-874D-40B5-A294-051A73821E4B}" dt="2026-03-30T07:13:50.730" v="100" actId="21"/>
      <pc:docMkLst>
        <pc:docMk/>
      </pc:docMkLst>
      <pc:sldChg chg="modSp mod">
        <pc:chgData name="pranathi k" userId="52cbb80a9ecb9c98" providerId="LiveId" clId="{18166A21-874D-40B5-A294-051A73821E4B}" dt="2026-03-29T16:20:19.942" v="87" actId="1076"/>
        <pc:sldMkLst>
          <pc:docMk/>
          <pc:sldMk cId="0" sldId="256"/>
        </pc:sldMkLst>
        <pc:spChg chg="mod">
          <ac:chgData name="pranathi k" userId="52cbb80a9ecb9c98" providerId="LiveId" clId="{18166A21-874D-40B5-A294-051A73821E4B}" dt="2026-03-29T16:19:46.082" v="84" actId="20577"/>
          <ac:spMkLst>
            <pc:docMk/>
            <pc:sldMk cId="0" sldId="256"/>
            <ac:spMk id="2" creationId="{00000000-0000-0000-0000-000000000000}"/>
          </ac:spMkLst>
        </pc:spChg>
        <pc:picChg chg="mod">
          <ac:chgData name="pranathi k" userId="52cbb80a9ecb9c98" providerId="LiveId" clId="{18166A21-874D-40B5-A294-051A73821E4B}" dt="2026-03-29T16:20:19.942" v="87" actId="1076"/>
          <ac:picMkLst>
            <pc:docMk/>
            <pc:sldMk cId="0" sldId="256"/>
            <ac:picMk id="5" creationId="{00000000-0000-0000-0000-000000000000}"/>
          </ac:picMkLst>
        </pc:picChg>
      </pc:sldChg>
      <pc:sldChg chg="modSp mod">
        <pc:chgData name="pranathi k" userId="52cbb80a9ecb9c98" providerId="LiveId" clId="{18166A21-874D-40B5-A294-051A73821E4B}" dt="2026-03-29T16:21:16.615" v="92" actId="27636"/>
        <pc:sldMkLst>
          <pc:docMk/>
          <pc:sldMk cId="0" sldId="257"/>
        </pc:sldMkLst>
        <pc:spChg chg="mod">
          <ac:chgData name="pranathi k" userId="52cbb80a9ecb9c98" providerId="LiveId" clId="{18166A21-874D-40B5-A294-051A73821E4B}" dt="2026-03-29T16:21:16.615" v="92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ranathi k" userId="52cbb80a9ecb9c98" providerId="LiveId" clId="{18166A21-874D-40B5-A294-051A73821E4B}" dt="2026-03-29T16:04:12.195" v="13" actId="123"/>
        <pc:sldMkLst>
          <pc:docMk/>
          <pc:sldMk cId="0" sldId="280"/>
        </pc:sldMkLst>
        <pc:spChg chg="mod">
          <ac:chgData name="pranathi k" userId="52cbb80a9ecb9c98" providerId="LiveId" clId="{18166A21-874D-40B5-A294-051A73821E4B}" dt="2026-03-29T16:04:12.195" v="13" actId="123"/>
          <ac:spMkLst>
            <pc:docMk/>
            <pc:sldMk cId="0" sldId="280"/>
            <ac:spMk id="4" creationId="{00000000-0000-0000-0000-000000000000}"/>
          </ac:spMkLst>
        </pc:spChg>
      </pc:sldChg>
      <pc:sldChg chg="modSp mod">
        <pc:chgData name="pranathi k" userId="52cbb80a9ecb9c98" providerId="LiveId" clId="{18166A21-874D-40B5-A294-051A73821E4B}" dt="2026-03-29T16:04:01.448" v="12" actId="123"/>
        <pc:sldMkLst>
          <pc:docMk/>
          <pc:sldMk cId="0" sldId="281"/>
        </pc:sldMkLst>
        <pc:spChg chg="mod">
          <ac:chgData name="pranathi k" userId="52cbb80a9ecb9c98" providerId="LiveId" clId="{18166A21-874D-40B5-A294-051A73821E4B}" dt="2026-03-29T16:04:01.448" v="12" actId="123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pranathi k" userId="52cbb80a9ecb9c98" providerId="LiveId" clId="{18166A21-874D-40B5-A294-051A73821E4B}" dt="2026-03-29T16:03:40.077" v="11" actId="14100"/>
        <pc:sldMkLst>
          <pc:docMk/>
          <pc:sldMk cId="0" sldId="282"/>
        </pc:sldMkLst>
        <pc:spChg chg="mod">
          <ac:chgData name="pranathi k" userId="52cbb80a9ecb9c98" providerId="LiveId" clId="{18166A21-874D-40B5-A294-051A73821E4B}" dt="2026-03-29T16:03:31.398" v="10" actId="14100"/>
          <ac:spMkLst>
            <pc:docMk/>
            <pc:sldMk cId="0" sldId="282"/>
            <ac:spMk id="2" creationId="{00000000-0000-0000-0000-000000000000}"/>
          </ac:spMkLst>
        </pc:spChg>
        <pc:spChg chg="mod">
          <ac:chgData name="pranathi k" userId="52cbb80a9ecb9c98" providerId="LiveId" clId="{18166A21-874D-40B5-A294-051A73821E4B}" dt="2026-03-29T16:03:40.077" v="11" actId="14100"/>
          <ac:spMkLst>
            <pc:docMk/>
            <pc:sldMk cId="0" sldId="282"/>
            <ac:spMk id="4" creationId="{00000000-0000-0000-0000-000000000000}"/>
          </ac:spMkLst>
        </pc:spChg>
      </pc:sldChg>
      <pc:sldChg chg="modSp mod">
        <pc:chgData name="pranathi k" userId="52cbb80a9ecb9c98" providerId="LiveId" clId="{18166A21-874D-40B5-A294-051A73821E4B}" dt="2026-03-29T16:03:09.013" v="4" actId="123"/>
        <pc:sldMkLst>
          <pc:docMk/>
          <pc:sldMk cId="0" sldId="283"/>
        </pc:sldMkLst>
        <pc:spChg chg="mod">
          <ac:chgData name="pranathi k" userId="52cbb80a9ecb9c98" providerId="LiveId" clId="{18166A21-874D-40B5-A294-051A73821E4B}" dt="2026-03-29T16:03:09.013" v="4" actId="123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pranathi k" userId="52cbb80a9ecb9c98" providerId="LiveId" clId="{18166A21-874D-40B5-A294-051A73821E4B}" dt="2026-03-29T16:02:57.344" v="3" actId="123"/>
        <pc:sldMkLst>
          <pc:docMk/>
          <pc:sldMk cId="0" sldId="284"/>
        </pc:sldMkLst>
        <pc:spChg chg="mod">
          <ac:chgData name="pranathi k" userId="52cbb80a9ecb9c98" providerId="LiveId" clId="{18166A21-874D-40B5-A294-051A73821E4B}" dt="2026-03-29T16:02:57.344" v="3" actId="123"/>
          <ac:spMkLst>
            <pc:docMk/>
            <pc:sldMk cId="0" sldId="284"/>
            <ac:spMk id="4" creationId="{00000000-0000-0000-0000-000000000000}"/>
          </ac:spMkLst>
        </pc:spChg>
      </pc:sldChg>
      <pc:sldChg chg="modSp mod">
        <pc:chgData name="pranathi k" userId="52cbb80a9ecb9c98" providerId="LiveId" clId="{18166A21-874D-40B5-A294-051A73821E4B}" dt="2026-03-29T16:02:21.483" v="1" actId="123"/>
        <pc:sldMkLst>
          <pc:docMk/>
          <pc:sldMk cId="0" sldId="287"/>
        </pc:sldMkLst>
        <pc:spChg chg="mod">
          <ac:chgData name="pranathi k" userId="52cbb80a9ecb9c98" providerId="LiveId" clId="{18166A21-874D-40B5-A294-051A73821E4B}" dt="2026-03-29T16:02:21.483" v="1" actId="123"/>
          <ac:spMkLst>
            <pc:docMk/>
            <pc:sldMk cId="0" sldId="287"/>
            <ac:spMk id="6" creationId="{00000000-0000-0000-0000-000000000000}"/>
          </ac:spMkLst>
        </pc:spChg>
      </pc:sldChg>
      <pc:sldChg chg="addSp delSp modSp mod">
        <pc:chgData name="pranathi k" userId="52cbb80a9ecb9c98" providerId="LiveId" clId="{18166A21-874D-40B5-A294-051A73821E4B}" dt="2026-03-30T07:13:50.730" v="100" actId="21"/>
        <pc:sldMkLst>
          <pc:docMk/>
          <pc:sldMk cId="0" sldId="288"/>
        </pc:sldMkLst>
        <pc:spChg chg="add del">
          <ac:chgData name="pranathi k" userId="52cbb80a9ecb9c98" providerId="LiveId" clId="{18166A21-874D-40B5-A294-051A73821E4B}" dt="2026-03-30T07:11:14.331" v="94" actId="22"/>
          <ac:spMkLst>
            <pc:docMk/>
            <pc:sldMk cId="0" sldId="288"/>
            <ac:spMk id="3" creationId="{4928705C-6E28-6A5D-3B95-9F46BB0D3FEC}"/>
          </ac:spMkLst>
        </pc:spChg>
        <pc:spChg chg="mod">
          <ac:chgData name="pranathi k" userId="52cbb80a9ecb9c98" providerId="LiveId" clId="{18166A21-874D-40B5-A294-051A73821E4B}" dt="2026-03-29T16:02:41.477" v="2" actId="123"/>
          <ac:spMkLst>
            <pc:docMk/>
            <pc:sldMk cId="0" sldId="288"/>
            <ac:spMk id="10" creationId="{00000000-0000-0000-0000-000000000000}"/>
          </ac:spMkLst>
        </pc:spChg>
        <pc:picChg chg="add del mod">
          <ac:chgData name="pranathi k" userId="52cbb80a9ecb9c98" providerId="LiveId" clId="{18166A21-874D-40B5-A294-051A73821E4B}" dt="2026-03-30T07:13:46.871" v="98" actId="21"/>
          <ac:picMkLst>
            <pc:docMk/>
            <pc:sldMk cId="0" sldId="288"/>
            <ac:picMk id="5" creationId="{D448719E-D1AF-4A7B-2E0A-22FF44BAB95A}"/>
          </ac:picMkLst>
        </pc:picChg>
        <pc:picChg chg="add del mod">
          <ac:chgData name="pranathi k" userId="52cbb80a9ecb9c98" providerId="LiveId" clId="{18166A21-874D-40B5-A294-051A73821E4B}" dt="2026-03-30T07:13:50.730" v="100" actId="21"/>
          <ac:picMkLst>
            <pc:docMk/>
            <pc:sldMk cId="0" sldId="288"/>
            <ac:picMk id="6" creationId="{D448719E-D1AF-4A7B-2E0A-22FF44BAB95A}"/>
          </ac:picMkLst>
        </pc:picChg>
      </pc:sldChg>
      <pc:sldChg chg="addSp delSp modSp new mod">
        <pc:chgData name="pranathi k" userId="52cbb80a9ecb9c98" providerId="LiveId" clId="{18166A21-874D-40B5-A294-051A73821E4B}" dt="2026-03-29T16:15:11.924" v="52" actId="14100"/>
        <pc:sldMkLst>
          <pc:docMk/>
          <pc:sldMk cId="2055303613" sldId="289"/>
        </pc:sldMkLst>
        <pc:spChg chg="mod">
          <ac:chgData name="pranathi k" userId="52cbb80a9ecb9c98" providerId="LiveId" clId="{18166A21-874D-40B5-A294-051A73821E4B}" dt="2026-03-29T16:14:56.919" v="50" actId="255"/>
          <ac:spMkLst>
            <pc:docMk/>
            <pc:sldMk cId="2055303613" sldId="289"/>
            <ac:spMk id="2" creationId="{EA9F454F-F1CC-A1BB-9FE4-359937ADC860}"/>
          </ac:spMkLst>
        </pc:spChg>
        <pc:spChg chg="del mod">
          <ac:chgData name="pranathi k" userId="52cbb80a9ecb9c98" providerId="LiveId" clId="{18166A21-874D-40B5-A294-051A73821E4B}" dt="2026-03-29T16:11:35.757" v="25"/>
          <ac:spMkLst>
            <pc:docMk/>
            <pc:sldMk cId="2055303613" sldId="289"/>
            <ac:spMk id="3" creationId="{B4CF0437-2D62-AD53-A8AA-E49EAEC7949F}"/>
          </ac:spMkLst>
        </pc:spChg>
        <pc:spChg chg="add mod">
          <ac:chgData name="pranathi k" userId="52cbb80a9ecb9c98" providerId="LiveId" clId="{18166A21-874D-40B5-A294-051A73821E4B}" dt="2026-03-29T16:15:11.924" v="52" actId="14100"/>
          <ac:spMkLst>
            <pc:docMk/>
            <pc:sldMk cId="2055303613" sldId="289"/>
            <ac:spMk id="4" creationId="{27D6D35A-49A8-6115-B137-C5F711ADEB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92807"/>
            <a:ext cx="8425544" cy="3237722"/>
          </a:xfrm>
        </p:spPr>
        <p:txBody>
          <a:bodyPr>
            <a:noAutofit/>
          </a:bodyPr>
          <a:lstStyle/>
          <a:p>
            <a:pPr algn="ctr"/>
            <a:r>
              <a:rPr lang="en-US" sz="36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TITLE:</a:t>
            </a:r>
            <a:br>
              <a:rPr lang="en-US" sz="36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Enhancing Arrhythmia Diagnosis Through  ECG Deep Learning Classification Deploying And Augmented Reality 3D Heart Visualization And Interaction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846" y="7240555"/>
            <a:ext cx="8260976" cy="877077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400" dirty="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Picture 4" descr="A hand holding a phone with a heart model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898" y="1926837"/>
            <a:ext cx="3747796" cy="35772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7048981"/>
            <a:ext cx="8534400" cy="38196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216" y="158620"/>
            <a:ext cx="11402008" cy="63634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Enhancing Arrhythmia Diagnosis Through  ECG Deep Learning Classification Deploying And Augmented Reality 3D Heart Visualization And Interaction</a:t>
            </a:r>
          </a:p>
          <a:p>
            <a:pPr marL="0" indent="0">
              <a:buNone/>
            </a:pPr>
            <a:endParaRPr lang="en-US" sz="1300" dirty="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Under the Guidance of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K. Keerthi Reddy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just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Done by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:</a:t>
            </a:r>
          </a:p>
          <a:p>
            <a:pPr algn="just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K. Pranathi(22U11A6724)</a:t>
            </a:r>
          </a:p>
          <a:p>
            <a:pPr algn="just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G. Hyndhavi(22U11A6716)</a:t>
            </a:r>
          </a:p>
          <a:p>
            <a:pPr algn="just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D. Yakub(22U11A6712)</a:t>
            </a:r>
          </a:p>
          <a:p>
            <a:pPr algn="just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M. Hari Venu(22U11A6721)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684212" y="7535119"/>
            <a:ext cx="8534400" cy="6944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433" y="405349"/>
            <a:ext cx="9871787" cy="617273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en-US" sz="4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Survey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Execution Procedure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UML Diagrams</a:t>
            </a:r>
          </a:p>
          <a:p>
            <a:pPr marL="0" indent="0" algn="just">
              <a:buClr>
                <a:srgbClr val="FFFFFF"/>
              </a:buClr>
              <a:buNone/>
            </a:pPr>
            <a:endParaRPr lang="en-US" sz="3600" dirty="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538" y="662474"/>
            <a:ext cx="8826760" cy="147423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40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bstract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26571" y="1993067"/>
            <a:ext cx="10170367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Cardiovascular diseases require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and timely diagnosis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manual ECG analysis is complex and time-consuming.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ArythmiAR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integrates Deep Learning (CNN, MLP) with Augmented Reality (AR)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MIT-BIH Arrhythmia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training and evaluation.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~99.07% 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MLP with data rebalancing techniques.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heart visualization to localize arrhythmia regions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and efficient diagnosis for improved clinical decision-making.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569168"/>
            <a:ext cx="9143967" cy="191692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40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xisting</a:t>
            </a: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US" sz="40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ystem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845" y="2127380"/>
            <a:ext cx="10273004" cy="434806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Relies on cardiologists for manual ECG interpretation, making the process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time-consuming and dependent on expertise.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analysis is complex and can lead to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delays and potential human errors.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ML models struggle with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imbalanced datasets and overfitting issues.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often show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generalization across different patient data.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only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ECG signals or numerical outputs without spatial context.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clear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 between ECG signals and affected heart regions.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837" y="1082351"/>
            <a:ext cx="10104387" cy="107385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IN" sz="40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isadvantages</a:t>
            </a:r>
            <a:endParaRPr lang="en-IN" sz="4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59837" y="1976231"/>
            <a:ext cx="9993085" cy="3699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Time-consuming diagnosis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manual ECG interpretation by specialists.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risk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error and misinterpretation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especially with complex signals.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ML models suffer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 and poor performance on imbalanced data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ability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generalize across different patient datasets.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only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ECG outputs without spatial understanding of heart regions.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and interactive visualization for better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5757"/>
            <a:ext cx="8696098" cy="1250994"/>
          </a:xfrm>
        </p:spPr>
        <p:txBody>
          <a:bodyPr>
            <a:normAutofit/>
          </a:bodyPr>
          <a:lstStyle/>
          <a:p>
            <a:r>
              <a:rPr lang="en-IN" sz="40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55" y="1866123"/>
            <a:ext cx="10562253" cy="4777274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Integrates </a:t>
            </a:r>
            <a:r>
              <a:rPr lang="en-IN" sz="2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(CNN, MLP)</a:t>
            </a: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IN" sz="2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Augmented Reality (AR)</a:t>
            </a: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accurate arrhythmia detection. 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sz="2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rebalancing techniques</a:t>
            </a: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improve performance on imbalanced ECG datasets. 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lang="en-IN" sz="2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ECG classification</a:t>
            </a: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reducing dependency on manual interpretation. 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Implements </a:t>
            </a:r>
            <a:r>
              <a:rPr lang="en-IN" sz="2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heart modelling</a:t>
            </a: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visualize anatomical regions affected by arrhythmia. 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AR-based system enables </a:t>
            </a:r>
            <a:r>
              <a:rPr lang="en-IN" sz="2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interaction and localization of abnormalities.</a:t>
            </a: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</a:t>
            </a:r>
            <a:r>
              <a:rPr lang="en-IN" sz="2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 accuracy, speed, and clinical decision-making.</a:t>
            </a:r>
            <a:r>
              <a:rPr lang="en-IN" sz="2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895" y="786765"/>
            <a:ext cx="8534400" cy="1010285"/>
          </a:xfrm>
        </p:spPr>
        <p:txBody>
          <a:bodyPr>
            <a:normAutofit/>
          </a:bodyPr>
          <a:lstStyle/>
          <a:p>
            <a:r>
              <a:rPr lang="en-IN" sz="40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15820" y="1611502"/>
            <a:ext cx="8070980" cy="4661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accuracy (~99%)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arrhythmia detection using deep learning models.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effort and diagnosis 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automated ECG classification.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imbalanced datasets effectively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data rebalancing techniques.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visualization of heart regions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better understanding of abnormalities.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AR-based system allows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and real-time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arrhythmia.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clinical decision-making and patient care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27788" y="1203325"/>
          <a:ext cx="10823509" cy="5514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6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527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Contribution &amp; Simplified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4962"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Seiichi </a:t>
                      </a:r>
                      <a:r>
                        <a:rPr lang="en-IN" dirty="0" err="1"/>
                        <a:t>Morokuma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Uses deep learning to convert BCG signals into ECG signals for heartbeat monitoring.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Provides accurate prediction of heart intervals and supports continuous monitoring.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1699"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Ali Raza, Shahid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dirty="0"/>
                        <a:t>Applies deep neural networks for biomedical signal classification using advanced feature encoding.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dirty="0"/>
                        <a:t>Demonstrates high accuracy and effectiveness of deep learning in medical data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8527"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Z. Zhao, Y. Zhang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Proposes CNN-based model for automatic ECG arrhythmia 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Achieves high accuracy on MIT-BIH dataset and reduces dependency on manual diagnosis.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Content Placeholder 20"/>
          <p:cNvSpPr>
            <a:spLocks noGrp="1"/>
          </p:cNvSpPr>
          <p:nvPr>
            <p:ph type="title"/>
          </p:nvPr>
        </p:nvSpPr>
        <p:spPr>
          <a:xfrm>
            <a:off x="643099" y="366874"/>
            <a:ext cx="8612188" cy="752475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Survey</a:t>
            </a:r>
            <a:endParaRPr lang="en-IN" b="1" cap="none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1412111" y="7256040"/>
            <a:ext cx="8130592" cy="8636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5" y="233266"/>
            <a:ext cx="8589425" cy="1530220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  <a:p>
            <a:pPr>
              <a:buClr>
                <a:srgbClr val="FFFFFF"/>
              </a:buClr>
            </a:pP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780" y="765111"/>
            <a:ext cx="4823925" cy="5859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103313" y="2309813"/>
            <a:ext cx="8534400" cy="361473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5" y="833215"/>
            <a:ext cx="9759821" cy="55395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244" y="27299"/>
            <a:ext cx="8534400" cy="1507067"/>
          </a:xfrm>
        </p:spPr>
        <p:txBody>
          <a:bodyPr>
            <a:normAutofit/>
          </a:bodyPr>
          <a:lstStyle/>
          <a:p>
            <a:r>
              <a:rPr lang="en-IN" sz="40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Execution Procedure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89" y="1275654"/>
            <a:ext cx="3648269" cy="54724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10845" y="643890"/>
            <a:ext cx="10748645" cy="1156970"/>
          </a:xfrm>
        </p:spPr>
        <p:txBody>
          <a:bodyPr>
            <a:normAutofit/>
          </a:bodyPr>
          <a:lstStyle/>
          <a:p>
            <a:r>
              <a:rPr lang="en-IN" sz="40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 Used</a:t>
            </a:r>
            <a:endParaRPr lang="en-IN" sz="40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0548" y="1259633"/>
            <a:ext cx="9423918" cy="1548881"/>
          </a:xfrm>
        </p:spPr>
        <p:txBody>
          <a:bodyPr>
            <a:normAutofit/>
          </a:bodyPr>
          <a:lstStyle/>
          <a:p>
            <a:r>
              <a:rPr lang="en-US" sz="3200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CNN (Convolutional Neural Network)</a:t>
            </a:r>
          </a:p>
          <a:p>
            <a:endParaRPr lang="en-IN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50507" y="2454725"/>
            <a:ext cx="10263674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ECG signals directly as input data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requiring manual feature extraction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layers to detect waveform patterns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as P waves, QRS complex, and T waves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 layers to reduce noise and dimensionality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retaining important signal features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and temporal features automatically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ECG signal variations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classification of arrhythmia types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learned signal patterns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performance on complex ECG data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it suitable for automated diagnosis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380" y="317241"/>
            <a:ext cx="8540620" cy="113833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MLP (Multilayer Perceptron)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217" y="2183360"/>
            <a:ext cx="11159412" cy="4739606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31371" y="999703"/>
            <a:ext cx="10145486" cy="5399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ECG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as R-R interval and QRS duration as input for arrhythmia classification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Processes data through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fully connected layers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transform input features into meaningful representations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relationships between ECG features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hidden layers and activation functions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multi-class classification of arrhythmia types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learned feature patterns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computation compared to CNN models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it efficient for real-time prediction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accuracy (~99.07%) on MIT-BIH dataset</a:t>
            </a: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demonstrating strong performance in this project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454F-F1CC-A1BB-9FE4-359937ADC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821094"/>
            <a:ext cx="8602791" cy="1114489"/>
          </a:xfrm>
        </p:spPr>
        <p:txBody>
          <a:bodyPr>
            <a:normAutofit/>
          </a:bodyPr>
          <a:lstStyle/>
          <a:p>
            <a:r>
              <a:rPr lang="en-IN" b="1" cap="non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Data Rebalancing Techniques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D6D35A-49A8-6115-B137-C5F711ADEB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143" y="1581960"/>
            <a:ext cx="9125339" cy="4476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Addresses imbalance where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ECG beats dominate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rare arrhythmia classes are underrepresented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SMOTE to generate synthetic minority samples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diversity without duplication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undersampling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majority class samples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a more balanced dataset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weights to give higher importance to rare classes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model training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detection of minority arrhythmias and enhances overall model performance </a:t>
            </a:r>
          </a:p>
        </p:txBody>
      </p:sp>
    </p:spTree>
    <p:extLst>
      <p:ext uri="{BB962C8B-B14F-4D97-AF65-F5344CB8AC3E}">
        <p14:creationId xmlns:p14="http://schemas.microsoft.com/office/powerpoint/2010/main" val="2055303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5069" y="625151"/>
            <a:ext cx="3545633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UML diagrams</a:t>
            </a:r>
          </a:p>
          <a:p>
            <a:endParaRPr lang="en-IN" sz="3600" b="1" dirty="0">
              <a:solidFill>
                <a:schemeClr val="bg1"/>
              </a:solidFill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Class Diagram</a:t>
            </a:r>
          </a:p>
          <a:p>
            <a:endParaRPr lang="en-IN" sz="3600" b="1" dirty="0">
              <a:solidFill>
                <a:schemeClr val="bg1"/>
              </a:solidFill>
            </a:endParaRPr>
          </a:p>
          <a:p>
            <a:endParaRPr lang="en-IN" sz="3600" b="1" dirty="0">
              <a:solidFill>
                <a:schemeClr val="bg1"/>
              </a:solidFill>
            </a:endParaRPr>
          </a:p>
          <a:p>
            <a:endParaRPr lang="en-IN" sz="3600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74" y="158620"/>
            <a:ext cx="6559420" cy="6316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3549" y="493185"/>
            <a:ext cx="415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Component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978" y="1063898"/>
            <a:ext cx="10055434" cy="54688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467" y="734399"/>
            <a:ext cx="47096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Deployment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935" y="257145"/>
            <a:ext cx="5673012" cy="59663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5517" y="435820"/>
            <a:ext cx="35153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Activity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45" y="213360"/>
            <a:ext cx="3868420" cy="64909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861" y="445150"/>
            <a:ext cx="4917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Use Case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214" y="139958"/>
            <a:ext cx="5177713" cy="658741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3548" y="398498"/>
            <a:ext cx="4746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Sequence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48" y="1548925"/>
            <a:ext cx="11548965" cy="37601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7525" y="389167"/>
            <a:ext cx="6106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Collabration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281" y="458558"/>
            <a:ext cx="7905750" cy="60102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6855" y="491803"/>
            <a:ext cx="6106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E-R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66511"/>
            <a:ext cx="6662057" cy="65249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078" y="7322419"/>
            <a:ext cx="8431534" cy="5065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582" y="1007706"/>
            <a:ext cx="8920030" cy="1063689"/>
          </a:xfrm>
        </p:spPr>
        <p:txBody>
          <a:bodyPr/>
          <a:lstStyle/>
          <a:p>
            <a:pPr marL="0" indent="0" algn="just">
              <a:buNone/>
            </a:pP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0" indent="0" algn="just">
              <a:buClr>
                <a:srgbClr val="FFFFFF"/>
              </a:buClr>
              <a:buNone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98582" y="1611087"/>
            <a:ext cx="9769150" cy="447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proposed system successfully integrates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(CNN, MLP)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Augmented Reality for arrhythmia diagnosis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accuracy (~99%) in ECG classification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reliability compared to traditional methods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effort and diagnosis time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automated ECG signal analysis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lang="en-US" alt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visualization of heart regions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helping in better understanding of abnormalities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AR-b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ased interaction allows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exploration of heart model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clinical decision-making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system enhances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accuracy, efficiency, and visualization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it useful for medical and educational applications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821802" y="7349923"/>
            <a:ext cx="8396809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6295" y="1691216"/>
            <a:ext cx="7962900" cy="2609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    </a:t>
            </a:r>
            <a:r>
              <a:rPr lang="en-US" sz="7200" dirty="0">
                <a:solidFill>
                  <a:schemeClr val="bg1"/>
                </a:solidFill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  Thank you!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918</Words>
  <Application>Microsoft Office PowerPoint</Application>
  <PresentationFormat>Widescreen</PresentationFormat>
  <Paragraphs>117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Algerian</vt:lpstr>
      <vt:lpstr>Arial</vt:lpstr>
      <vt:lpstr>Calibri</vt:lpstr>
      <vt:lpstr>Century Gothic</vt:lpstr>
      <vt:lpstr>Times New Roman</vt:lpstr>
      <vt:lpstr>Wingdings</vt:lpstr>
      <vt:lpstr>Wingdings 3</vt:lpstr>
      <vt:lpstr>Slice</vt:lpstr>
      <vt:lpstr>PROJECT TITLE: Enhancing Arrhythmia Diagnosis Through  ECG Deep Learning Classification Deploying And Augmented Reality 3D Heart Visualization And Interaction</vt:lpstr>
      <vt:lpstr>PowerPoint Presentation</vt:lpstr>
      <vt:lpstr>PowerPoint Presentation</vt:lpstr>
      <vt:lpstr>Abstract</vt:lpstr>
      <vt:lpstr>Existing system</vt:lpstr>
      <vt:lpstr>Disadvantages</vt:lpstr>
      <vt:lpstr>Proposed System</vt:lpstr>
      <vt:lpstr>Benefits</vt:lpstr>
      <vt:lpstr>Literature Survey</vt:lpstr>
      <vt:lpstr>PowerPoint Presentation</vt:lpstr>
      <vt:lpstr>PowerPoint Presentation</vt:lpstr>
      <vt:lpstr>Execution Procedure</vt:lpstr>
      <vt:lpstr>Algorithms Used</vt:lpstr>
      <vt:lpstr>2. MLP (Multilayer Perceptron)</vt:lpstr>
      <vt:lpstr>3. Data Rebalancing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pranathi</dc:creator>
  <cp:lastModifiedBy>pranathi k</cp:lastModifiedBy>
  <cp:revision>442</cp:revision>
  <dcterms:created xsi:type="dcterms:W3CDTF">2025-11-26T15:11:00Z</dcterms:created>
  <dcterms:modified xsi:type="dcterms:W3CDTF">2026-03-30T07:13:57Z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9CB887B012284E028467E58D26090AAB_12</vt:lpwstr>
  </property>
  <property fmtid="{D5CDD505-2E9C-101B-9397-08002B2CF9AE}" pid="3" name="KSOProductBuildVer">
    <vt:lpwstr>1033-12.1.0.25242</vt:lpwstr>
  </property>
</Properties>
</file>