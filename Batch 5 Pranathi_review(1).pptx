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7" r:id="rId1"/>
  </p:sldMasterIdLst>
  <p:sldIdLst>
    <p:sldId id="256" r:id="rId2"/>
    <p:sldId id="266" r:id="rId3"/>
    <p:sldId id="257" r:id="rId4"/>
    <p:sldId id="258" r:id="rId5"/>
    <p:sldId id="259" r:id="rId6"/>
    <p:sldId id="260" r:id="rId7"/>
    <p:sldId id="261" r:id="rId8"/>
    <p:sldId id="262" r:id="rId9"/>
    <p:sldId id="263" r:id="rId10"/>
    <p:sldId id="267" r:id="rId11"/>
    <p:sldId id="268" r:id="rId12"/>
    <p:sldId id="264" r:id="rId13"/>
    <p:sldId id="265" r:id="rId14"/>
    <p:sldId id="269"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D6B2AA-171D-49CA-A98A-11EC66369DE0}" v="2" dt="2026-03-09T06:51:01.5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2" d="100"/>
          <a:sy n="82" d="100"/>
        </p:scale>
        <p:origin x="49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athi k" userId="52cbb80a9ecb9c98" providerId="LiveId" clId="{18166A21-874D-40B5-A294-051A73821E4B}"/>
    <pc:docChg chg="undo custSel addSld delSld modSld">
      <pc:chgData name="pranathi k" userId="52cbb80a9ecb9c98" providerId="LiveId" clId="{18166A21-874D-40B5-A294-051A73821E4B}" dt="2026-03-09T06:50:48.560" v="20"/>
      <pc:docMkLst>
        <pc:docMk/>
      </pc:docMkLst>
      <pc:sldChg chg="modSp mod">
        <pc:chgData name="pranathi k" userId="52cbb80a9ecb9c98" providerId="LiveId" clId="{18166A21-874D-40B5-A294-051A73821E4B}" dt="2026-03-09T06:30:37.201" v="18" actId="20577"/>
        <pc:sldMkLst>
          <pc:docMk/>
          <pc:sldMk cId="109857222" sldId="256"/>
        </pc:sldMkLst>
        <pc:spChg chg="mod">
          <ac:chgData name="pranathi k" userId="52cbb80a9ecb9c98" providerId="LiveId" clId="{18166A21-874D-40B5-A294-051A73821E4B}" dt="2026-03-09T06:30:37.201" v="18" actId="20577"/>
          <ac:spMkLst>
            <pc:docMk/>
            <pc:sldMk cId="109857222" sldId="256"/>
            <ac:spMk id="2" creationId="{00000000-0000-0000-0000-000000000000}"/>
          </ac:spMkLst>
        </pc:spChg>
      </pc:sldChg>
      <pc:sldChg chg="modSp mod">
        <pc:chgData name="pranathi k" userId="52cbb80a9ecb9c98" providerId="LiveId" clId="{18166A21-874D-40B5-A294-051A73821E4B}" dt="2026-03-09T06:50:48.560" v="20"/>
        <pc:sldMkLst>
          <pc:docMk/>
          <pc:sldMk cId="1674015197" sldId="258"/>
        </pc:sldMkLst>
        <pc:spChg chg="mod">
          <ac:chgData name="pranathi k" userId="52cbb80a9ecb9c98" providerId="LiveId" clId="{18166A21-874D-40B5-A294-051A73821E4B}" dt="2026-03-09T06:50:48.560" v="20"/>
          <ac:spMkLst>
            <pc:docMk/>
            <pc:sldMk cId="1674015197" sldId="258"/>
            <ac:spMk id="3" creationId="{67EC960B-8A82-D7F5-BA36-103C778CA32C}"/>
          </ac:spMkLst>
        </pc:spChg>
      </pc:sldChg>
      <pc:sldChg chg="addSp modSp new mod">
        <pc:chgData name="pranathi k" userId="52cbb80a9ecb9c98" providerId="LiveId" clId="{18166A21-874D-40B5-A294-051A73821E4B}" dt="2026-03-07T16:17:31.181" v="7" actId="1076"/>
        <pc:sldMkLst>
          <pc:docMk/>
          <pc:sldMk cId="2164371827" sldId="271"/>
        </pc:sldMkLst>
        <pc:picChg chg="add mod">
          <ac:chgData name="pranathi k" userId="52cbb80a9ecb9c98" providerId="LiveId" clId="{18166A21-874D-40B5-A294-051A73821E4B}" dt="2026-03-07T16:17:31.181" v="7" actId="1076"/>
          <ac:picMkLst>
            <pc:docMk/>
            <pc:sldMk cId="2164371827" sldId="271"/>
            <ac:picMk id="3" creationId="{80C8EA00-37B1-688A-247B-92F45EEB6D7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dirty="0"/>
              <a:t>Click to edit Master title style</a:t>
            </a:r>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7553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40717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dirty="0"/>
              <a:t>Click to edit Master title style</a:t>
            </a:r>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09482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00927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50255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90790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17644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dirty="0"/>
              <a:t>Click to edit Master title style</a:t>
            </a:r>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80433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dirty="0"/>
              <a:t>Click to edit Master title style</a:t>
            </a:r>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15216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5431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83793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132555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24132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35333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27157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345078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7817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3/9/2026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17964316"/>
      </p:ext>
    </p:extLst>
  </p:cSld>
  <p:clrMap bg1="dk1" tx1="lt1" bg2="dk2" tx2="lt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 id="2147483909" r:id="rId12"/>
    <p:sldLayoutId id="2147483910" r:id="rId13"/>
    <p:sldLayoutId id="2147483911" r:id="rId14"/>
    <p:sldLayoutId id="2147483912" r:id="rId15"/>
    <p:sldLayoutId id="2147483913" r:id="rId16"/>
    <p:sldLayoutId id="2147483914"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120" y="2761861"/>
            <a:ext cx="6116300" cy="2858120"/>
          </a:xfrm>
        </p:spPr>
        <p:txBody>
          <a:bodyPr>
            <a:noAutofit/>
          </a:bodyPr>
          <a:lstStyle/>
          <a:p>
            <a:br>
              <a:rPr lang="en-US" sz="3200" b="1" cap="none" dirty="0">
                <a:solidFill>
                  <a:schemeClr val="bg1"/>
                </a:solidFill>
                <a:latin typeface="Times New Roman"/>
                <a:cs typeface="Times New Roman"/>
              </a:rPr>
            </a:br>
            <a:br>
              <a:rPr lang="en-US" sz="3200" b="1" cap="none" dirty="0">
                <a:solidFill>
                  <a:schemeClr val="bg1"/>
                </a:solidFill>
                <a:latin typeface="Times New Roman"/>
                <a:cs typeface="Times New Roman"/>
              </a:rPr>
            </a:br>
            <a:r>
              <a:rPr lang="en-US" sz="3200" b="1" cap="none" dirty="0">
                <a:solidFill>
                  <a:schemeClr val="bg1"/>
                </a:solidFill>
                <a:latin typeface="Times New Roman"/>
                <a:cs typeface="Times New Roman"/>
              </a:rPr>
              <a:t>Project Title:</a:t>
            </a:r>
            <a:br>
              <a:rPr lang="en-US" sz="3200" cap="none" dirty="0">
                <a:solidFill>
                  <a:schemeClr val="bg1"/>
                </a:solidFill>
                <a:latin typeface="Times New Roman"/>
                <a:cs typeface="Times New Roman"/>
              </a:rPr>
            </a:br>
            <a:br>
              <a:rPr lang="en-US" sz="3200" cap="none" dirty="0">
                <a:solidFill>
                  <a:schemeClr val="bg1"/>
                </a:solidFill>
                <a:latin typeface="Times New Roman"/>
                <a:cs typeface="Times New Roman"/>
              </a:rPr>
            </a:br>
            <a:r>
              <a:rPr lang="en-US" sz="3200" cap="none" dirty="0">
                <a:solidFill>
                  <a:schemeClr val="bg1"/>
                </a:solidFill>
                <a:latin typeface="Times New Roman"/>
                <a:cs typeface="Times New Roman"/>
              </a:rPr>
              <a:t>Enhancing Arrhythmia Diagnosis Through  ECG    Deep   Learning Classification    Deploying    And Augmented   Reality   3D   Heart Visualization   And     Interaction</a:t>
            </a:r>
          </a:p>
        </p:txBody>
      </p:sp>
      <p:sp>
        <p:nvSpPr>
          <p:cNvPr id="3" name="Subtitle 2"/>
          <p:cNvSpPr>
            <a:spLocks noGrp="1"/>
          </p:cNvSpPr>
          <p:nvPr>
            <p:ph type="subTitle" idx="1"/>
          </p:nvPr>
        </p:nvSpPr>
        <p:spPr>
          <a:xfrm>
            <a:off x="237846" y="7240555"/>
            <a:ext cx="8260976" cy="877077"/>
          </a:xfrm>
        </p:spPr>
        <p:txBody>
          <a:bodyPr vert="horz" lIns="91440" tIns="45720" rIns="91440" bIns="45720" rtlCol="0" anchor="t">
            <a:noAutofit/>
          </a:bodyPr>
          <a:lstStyle/>
          <a:p>
            <a:endParaRPr lang="en-US" sz="2400" dirty="0">
              <a:solidFill>
                <a:schemeClr val="bg1"/>
              </a:solidFill>
              <a:latin typeface="Times New Roman"/>
              <a:cs typeface="Times New Roman"/>
            </a:endParaRPr>
          </a:p>
        </p:txBody>
      </p:sp>
      <p:pic>
        <p:nvPicPr>
          <p:cNvPr id="4" name="Picture 3" descr="A hand holding a phone with a heart model&#10;&#10;AI-generated content may be incorrect.">
            <a:extLst>
              <a:ext uri="{FF2B5EF4-FFF2-40B4-BE49-F238E27FC236}">
                <a16:creationId xmlns:a16="http://schemas.microsoft.com/office/drawing/2014/main" id="{96EA9268-50CA-33B6-77D8-8D0CF6745567}"/>
              </a:ext>
            </a:extLst>
          </p:cNvPr>
          <p:cNvPicPr>
            <a:picLocks noChangeAspect="1"/>
          </p:cNvPicPr>
          <p:nvPr/>
        </p:nvPicPr>
        <p:blipFill>
          <a:blip r:embed="rId2"/>
          <a:stretch>
            <a:fillRect/>
          </a:stretch>
        </p:blipFill>
        <p:spPr>
          <a:xfrm>
            <a:off x="6428454" y="1018976"/>
            <a:ext cx="5049840" cy="4820048"/>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16963-1E08-6FDD-65AD-13CD27C9756A}"/>
              </a:ext>
            </a:extLst>
          </p:cNvPr>
          <p:cNvSpPr>
            <a:spLocks noGrp="1"/>
          </p:cNvSpPr>
          <p:nvPr>
            <p:ph type="title"/>
          </p:nvPr>
        </p:nvSpPr>
        <p:spPr>
          <a:xfrm>
            <a:off x="684212" y="7048981"/>
            <a:ext cx="8534400" cy="38196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7DA1BD68-8ACB-2227-0956-316EA03FDD64}"/>
              </a:ext>
            </a:extLst>
          </p:cNvPr>
          <p:cNvSpPr>
            <a:spLocks noGrp="1"/>
          </p:cNvSpPr>
          <p:nvPr>
            <p:ph idx="1"/>
          </p:nvPr>
        </p:nvSpPr>
        <p:spPr>
          <a:xfrm>
            <a:off x="684212" y="685800"/>
            <a:ext cx="8534400" cy="4545355"/>
          </a:xfrm>
        </p:spPr>
        <p:txBody>
          <a:bodyPr/>
          <a:lstStyle/>
          <a:p>
            <a:pPr marL="0" indent="0" algn="just">
              <a:buNone/>
            </a:pPr>
            <a:r>
              <a:rPr lang="en-US" sz="3200" b="1" dirty="0">
                <a:solidFill>
                  <a:schemeClr val="bg1"/>
                </a:solidFill>
                <a:latin typeface="Times New Roman"/>
                <a:cs typeface="Times New Roman"/>
              </a:rPr>
              <a:t>Under the Guidance of</a:t>
            </a:r>
            <a:r>
              <a:rPr lang="en-US" sz="2800" b="1" dirty="0">
                <a:solidFill>
                  <a:schemeClr val="bg1"/>
                </a:solidFill>
                <a:latin typeface="Times New Roman"/>
                <a:cs typeface="Times New Roman"/>
              </a:rPr>
              <a:t> </a:t>
            </a:r>
            <a:r>
              <a:rPr lang="en-US" dirty="0">
                <a:solidFill>
                  <a:schemeClr val="bg1"/>
                </a:solidFill>
                <a:latin typeface="Times New Roman"/>
                <a:cs typeface="Times New Roman"/>
              </a:rPr>
              <a:t>:</a:t>
            </a:r>
            <a:r>
              <a:rPr lang="en-US" sz="2400" dirty="0">
                <a:solidFill>
                  <a:schemeClr val="bg1"/>
                </a:solidFill>
                <a:latin typeface="Times New Roman"/>
                <a:cs typeface="Times New Roman"/>
              </a:rPr>
              <a:t> </a:t>
            </a:r>
            <a:r>
              <a:rPr lang="en-US" sz="2800" dirty="0">
                <a:solidFill>
                  <a:schemeClr val="bg1"/>
                </a:solidFill>
                <a:latin typeface="Times New Roman"/>
                <a:cs typeface="Times New Roman"/>
              </a:rPr>
              <a:t>K. Keerthi Reddy</a:t>
            </a:r>
          </a:p>
          <a:p>
            <a:pPr marL="0" indent="0" algn="just">
              <a:buNone/>
            </a:pPr>
            <a:endParaRPr lang="en-US" sz="2800" dirty="0">
              <a:solidFill>
                <a:schemeClr val="bg1"/>
              </a:solidFill>
              <a:latin typeface="Times New Roman"/>
              <a:cs typeface="Times New Roman"/>
            </a:endParaRPr>
          </a:p>
          <a:p>
            <a:pPr marL="0" indent="0" algn="just">
              <a:buClr>
                <a:srgbClr val="FFFFFF"/>
              </a:buClr>
              <a:buNone/>
            </a:pPr>
            <a:r>
              <a:rPr lang="en-US" sz="3200" b="1" dirty="0">
                <a:solidFill>
                  <a:schemeClr val="bg1"/>
                </a:solidFill>
                <a:latin typeface="Times New Roman"/>
                <a:cs typeface="Times New Roman"/>
              </a:rPr>
              <a:t>Done by </a:t>
            </a:r>
            <a:r>
              <a:rPr lang="en-US" sz="3200" dirty="0">
                <a:solidFill>
                  <a:schemeClr val="bg1"/>
                </a:solidFill>
                <a:latin typeface="Times New Roman"/>
                <a:cs typeface="Times New Roman"/>
              </a:rPr>
              <a:t>:</a:t>
            </a:r>
          </a:p>
          <a:p>
            <a:pPr marL="0" indent="0" algn="just">
              <a:buClr>
                <a:srgbClr val="FFFFFF"/>
              </a:buClr>
              <a:buNone/>
            </a:pPr>
            <a:r>
              <a:rPr lang="en-US" sz="2800" dirty="0">
                <a:solidFill>
                  <a:schemeClr val="bg1"/>
                </a:solidFill>
                <a:latin typeface="Times New Roman"/>
                <a:cs typeface="Times New Roman"/>
              </a:rPr>
              <a:t>K. Pranathi(22U11A6724)</a:t>
            </a:r>
          </a:p>
          <a:p>
            <a:pPr marL="0" indent="0" algn="just">
              <a:buClr>
                <a:srgbClr val="FFFFFF"/>
              </a:buClr>
              <a:buNone/>
            </a:pPr>
            <a:r>
              <a:rPr lang="en-US" sz="2800" dirty="0">
                <a:solidFill>
                  <a:schemeClr val="bg1"/>
                </a:solidFill>
                <a:latin typeface="Times New Roman"/>
                <a:cs typeface="Times New Roman"/>
              </a:rPr>
              <a:t>G. Hyndhavi(22U11A6716)</a:t>
            </a:r>
          </a:p>
          <a:p>
            <a:pPr marL="0" indent="0" algn="just">
              <a:buClr>
                <a:srgbClr val="FFFFFF"/>
              </a:buClr>
              <a:buNone/>
            </a:pPr>
            <a:r>
              <a:rPr lang="en-US" sz="2800" dirty="0">
                <a:solidFill>
                  <a:schemeClr val="bg1"/>
                </a:solidFill>
                <a:latin typeface="Times New Roman"/>
                <a:cs typeface="Times New Roman"/>
              </a:rPr>
              <a:t>D. Yakub(22U11A6712)</a:t>
            </a:r>
          </a:p>
          <a:p>
            <a:pPr marL="0" indent="0" algn="just">
              <a:buClr>
                <a:srgbClr val="FFFFFF"/>
              </a:buClr>
              <a:buNone/>
            </a:pPr>
            <a:r>
              <a:rPr lang="en-US" sz="2800" dirty="0">
                <a:solidFill>
                  <a:schemeClr val="bg1"/>
                </a:solidFill>
                <a:latin typeface="Times New Roman"/>
                <a:cs typeface="Times New Roman"/>
              </a:rPr>
              <a:t>M. Hari Venu(22U11A6721)</a:t>
            </a:r>
            <a:endParaRPr lang="en-US" sz="2800" dirty="0">
              <a:solidFill>
                <a:schemeClr val="bg1"/>
              </a:solidFill>
            </a:endParaRPr>
          </a:p>
        </p:txBody>
      </p:sp>
    </p:spTree>
    <p:extLst>
      <p:ext uri="{BB962C8B-B14F-4D97-AF65-F5344CB8AC3E}">
        <p14:creationId xmlns:p14="http://schemas.microsoft.com/office/powerpoint/2010/main" val="2991390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CA3C1-3F94-2A23-9895-CC98C1EEE9D3}"/>
              </a:ext>
            </a:extLst>
          </p:cNvPr>
          <p:cNvSpPr>
            <a:spLocks noGrp="1"/>
          </p:cNvSpPr>
          <p:nvPr>
            <p:ph type="title"/>
          </p:nvPr>
        </p:nvSpPr>
        <p:spPr>
          <a:xfrm flipV="1">
            <a:off x="684212" y="7535119"/>
            <a:ext cx="8534400" cy="6944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74F26BDA-55FB-9129-2E41-704416249D20}"/>
              </a:ext>
            </a:extLst>
          </p:cNvPr>
          <p:cNvSpPr>
            <a:spLocks noGrp="1"/>
          </p:cNvSpPr>
          <p:nvPr>
            <p:ph idx="1"/>
          </p:nvPr>
        </p:nvSpPr>
        <p:spPr>
          <a:xfrm>
            <a:off x="1049972" y="408940"/>
            <a:ext cx="9265920" cy="5263727"/>
          </a:xfrm>
        </p:spPr>
        <p:txBody>
          <a:bodyPr>
            <a:normAutofit/>
          </a:bodyPr>
          <a:lstStyle/>
          <a:p>
            <a:pPr marL="0" indent="0" algn="just">
              <a:buNone/>
            </a:pPr>
            <a:r>
              <a:rPr lang="en-US" sz="4000" b="1" dirty="0">
                <a:solidFill>
                  <a:schemeClr val="bg1"/>
                </a:solidFill>
                <a:latin typeface="Times New Roman"/>
                <a:cs typeface="Times New Roman"/>
              </a:rPr>
              <a:t>CONTENTS</a:t>
            </a:r>
            <a:endParaRPr lang="en-US" sz="4000" dirty="0">
              <a:solidFill>
                <a:schemeClr val="bg1"/>
              </a:solidFill>
              <a:latin typeface="Times New Roman"/>
              <a:cs typeface="Times New Roman"/>
            </a:endParaRPr>
          </a:p>
          <a:p>
            <a:pPr marL="0" indent="0" algn="just">
              <a:buClr>
                <a:srgbClr val="FFFFFF"/>
              </a:buClr>
              <a:buNone/>
            </a:pPr>
            <a:r>
              <a:rPr lang="en-US" sz="3600" dirty="0">
                <a:solidFill>
                  <a:schemeClr val="bg1"/>
                </a:solidFill>
                <a:latin typeface="Times New Roman"/>
                <a:cs typeface="Times New Roman"/>
              </a:rPr>
              <a:t>Abstract</a:t>
            </a:r>
          </a:p>
          <a:p>
            <a:pPr marL="0" indent="0" algn="just">
              <a:buClr>
                <a:srgbClr val="FFFFFF"/>
              </a:buClr>
              <a:buNone/>
            </a:pPr>
            <a:r>
              <a:rPr lang="en-US" sz="3600" dirty="0">
                <a:solidFill>
                  <a:schemeClr val="bg1"/>
                </a:solidFill>
                <a:latin typeface="Times New Roman"/>
                <a:cs typeface="Times New Roman"/>
              </a:rPr>
              <a:t>Existing system and proposed system</a:t>
            </a:r>
          </a:p>
          <a:p>
            <a:pPr marL="0" indent="0" algn="just">
              <a:buClr>
                <a:srgbClr val="FFFFFF"/>
              </a:buClr>
              <a:buNone/>
            </a:pPr>
            <a:r>
              <a:rPr lang="en-US" sz="3600" dirty="0">
                <a:solidFill>
                  <a:schemeClr val="bg1"/>
                </a:solidFill>
                <a:latin typeface="Times New Roman"/>
                <a:cs typeface="Times New Roman"/>
              </a:rPr>
              <a:t>System configuration</a:t>
            </a:r>
          </a:p>
          <a:p>
            <a:pPr marL="0" indent="0" algn="just">
              <a:buClr>
                <a:srgbClr val="FFFFFF"/>
              </a:buClr>
              <a:buNone/>
            </a:pPr>
            <a:r>
              <a:rPr lang="en-US" sz="3600" dirty="0">
                <a:solidFill>
                  <a:schemeClr val="bg1"/>
                </a:solidFill>
                <a:latin typeface="Times New Roman"/>
                <a:cs typeface="Times New Roman"/>
              </a:rPr>
              <a:t>Literature survey</a:t>
            </a:r>
          </a:p>
        </p:txBody>
      </p:sp>
    </p:spTree>
    <p:extLst>
      <p:ext uri="{BB962C8B-B14F-4D97-AF65-F5344CB8AC3E}">
        <p14:creationId xmlns:p14="http://schemas.microsoft.com/office/powerpoint/2010/main" val="127299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E4C95-AC8D-8E8A-926B-FECAF59B3DB1}"/>
              </a:ext>
            </a:extLst>
          </p:cNvPr>
          <p:cNvSpPr>
            <a:spLocks noGrp="1"/>
          </p:cNvSpPr>
          <p:nvPr>
            <p:ph type="title"/>
          </p:nvPr>
        </p:nvSpPr>
        <p:spPr>
          <a:xfrm flipV="1">
            <a:off x="684212" y="7257327"/>
            <a:ext cx="8534400" cy="486136"/>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67EC960B-8A82-D7F5-BA36-103C778CA32C}"/>
              </a:ext>
            </a:extLst>
          </p:cNvPr>
          <p:cNvSpPr>
            <a:spLocks noGrp="1"/>
          </p:cNvSpPr>
          <p:nvPr>
            <p:ph idx="1"/>
          </p:nvPr>
        </p:nvSpPr>
        <p:spPr>
          <a:xfrm>
            <a:off x="604836" y="791567"/>
            <a:ext cx="9525964" cy="5046561"/>
          </a:xfrm>
        </p:spPr>
        <p:txBody>
          <a:bodyPr vert="horz" lIns="91440" tIns="45720" rIns="91440" bIns="45720" rtlCol="0" anchor="ctr">
            <a:noAutofit/>
          </a:bodyPr>
          <a:lstStyle/>
          <a:p>
            <a:pPr marL="0" indent="0">
              <a:buNone/>
            </a:pPr>
            <a:r>
              <a:rPr lang="en-US" sz="4000" dirty="0">
                <a:solidFill>
                  <a:schemeClr val="bg1"/>
                </a:solidFill>
                <a:latin typeface="Times New Roman"/>
                <a:cs typeface="Times New Roman"/>
              </a:rPr>
              <a:t>Abstract</a:t>
            </a:r>
          </a:p>
          <a:p>
            <a:pPr marL="0" indent="0" algn="just">
              <a:buNone/>
            </a:pPr>
            <a:r>
              <a:rPr lang="en-US" dirty="0">
                <a:solidFill>
                  <a:schemeClr val="bg1"/>
                </a:solidFill>
                <a:latin typeface="Times New Roman"/>
                <a:ea typeface="+mn-lt"/>
                <a:cs typeface="+mn-lt"/>
              </a:rPr>
              <a:t>The abstract for the </a:t>
            </a:r>
            <a:r>
              <a:rPr lang="en-US" dirty="0" err="1">
                <a:solidFill>
                  <a:schemeClr val="bg1"/>
                </a:solidFill>
                <a:latin typeface="Times New Roman"/>
                <a:ea typeface="+mn-lt"/>
                <a:cs typeface="+mn-lt"/>
              </a:rPr>
              <a:t>ArythmiAR</a:t>
            </a:r>
            <a:r>
              <a:rPr lang="en-US" dirty="0">
                <a:solidFill>
                  <a:schemeClr val="bg1"/>
                </a:solidFill>
                <a:latin typeface="Times New Roman"/>
                <a:ea typeface="+mn-lt"/>
                <a:cs typeface="+mn-lt"/>
              </a:rPr>
              <a:t> system proposes a critical advancement in diagnosing cardiovascular diseases (CVDs) by addressing the limitations of manual ECG interpretation, which is complex and time-consuming. The novel system integrates Convolutional Neural Networks (CNN) with Augmented Reality (AR) to offer an interactive diagnostic experience featuring 3D visualization and real-time engagement. </a:t>
            </a:r>
            <a:r>
              <a:rPr lang="en-US" dirty="0" err="1">
                <a:solidFill>
                  <a:schemeClr val="bg1"/>
                </a:solidFill>
                <a:latin typeface="Times New Roman"/>
                <a:ea typeface="+mn-lt"/>
                <a:cs typeface="+mn-lt"/>
              </a:rPr>
              <a:t>ArythmiAR's</a:t>
            </a:r>
            <a:r>
              <a:rPr lang="en-US" dirty="0">
                <a:solidFill>
                  <a:schemeClr val="bg1"/>
                </a:solidFill>
                <a:latin typeface="Times New Roman"/>
                <a:ea typeface="+mn-lt"/>
                <a:cs typeface="+mn-lt"/>
              </a:rPr>
              <a:t> key features include deep learning for precise arrhythmia detection, 3D heart modeling. The research demonstrated highly competitive results on the PhysioNet MIT-BIH Arrhythmia dataset, with the Multilayer Perceptron (MLP) model achieving an accuracy of 99.07% after employing data rebalancing strategies. Ultimately, the AR prototype allows users to visualize and interact with specific heart regions, thereby empowering medical professionals to make more accurate diagnoses and develop effective strategies, thereby improving patient care.</a:t>
            </a:r>
            <a:endParaRPr lang="en-US" dirty="0">
              <a:solidFill>
                <a:schemeClr val="bg1"/>
              </a:solidFill>
              <a:latin typeface="Times New Roman"/>
              <a:cs typeface="Times New Roman"/>
            </a:endParaRPr>
          </a:p>
          <a:p>
            <a:pPr marL="0" indent="0">
              <a:buClr>
                <a:srgbClr val="FFFFFF"/>
              </a:buClr>
              <a:buNone/>
            </a:pPr>
            <a:endParaRPr lang="en-US" sz="1800" dirty="0">
              <a:latin typeface="Times New Roman"/>
              <a:cs typeface="Times New Roman"/>
            </a:endParaRPr>
          </a:p>
          <a:p>
            <a:pPr>
              <a:buClr>
                <a:srgbClr val="FFFFFF"/>
              </a:buClr>
            </a:pPr>
            <a:endParaRPr lang="en-US" sz="1800" dirty="0">
              <a:latin typeface="Times New Roman"/>
              <a:cs typeface="Times New Roman"/>
            </a:endParaRPr>
          </a:p>
        </p:txBody>
      </p:sp>
    </p:spTree>
    <p:extLst>
      <p:ext uri="{BB962C8B-B14F-4D97-AF65-F5344CB8AC3E}">
        <p14:creationId xmlns:p14="http://schemas.microsoft.com/office/powerpoint/2010/main" val="1674015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5012-DB68-C00F-37E6-CCE2A6DD28C1}"/>
              </a:ext>
            </a:extLst>
          </p:cNvPr>
          <p:cNvSpPr>
            <a:spLocks noGrp="1"/>
          </p:cNvSpPr>
          <p:nvPr>
            <p:ph type="title"/>
          </p:nvPr>
        </p:nvSpPr>
        <p:spPr>
          <a:xfrm flipV="1">
            <a:off x="684212" y="7141579"/>
            <a:ext cx="8534400" cy="30094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0E034CF1-B799-9342-CDE1-9E3913BB506D}"/>
              </a:ext>
            </a:extLst>
          </p:cNvPr>
          <p:cNvSpPr>
            <a:spLocks noGrp="1"/>
          </p:cNvSpPr>
          <p:nvPr>
            <p:ph idx="1"/>
          </p:nvPr>
        </p:nvSpPr>
        <p:spPr>
          <a:xfrm>
            <a:off x="430212" y="-657661"/>
            <a:ext cx="10460567" cy="7493123"/>
          </a:xfrm>
        </p:spPr>
        <p:txBody>
          <a:bodyPr>
            <a:normAutofit/>
          </a:bodyPr>
          <a:lstStyle/>
          <a:p>
            <a:pPr marL="0" indent="0">
              <a:buNone/>
            </a:pPr>
            <a:r>
              <a:rPr lang="en-US" sz="4000" dirty="0">
                <a:solidFill>
                  <a:schemeClr val="bg1"/>
                </a:solidFill>
                <a:latin typeface="Times New Roman"/>
                <a:cs typeface="Times New Roman"/>
              </a:rPr>
              <a:t>Existing system</a:t>
            </a: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Typically relies on cardiologists manually interpreting ECG signals or using more conventional machine learning (ML) techniques.  </a:t>
            </a:r>
            <a:endParaRPr lang="en-US" dirty="0">
              <a:solidFill>
                <a:schemeClr val="bg1"/>
              </a:solidFill>
              <a:latin typeface="Times New Roman"/>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Manual interpretation is time-consuming and demands a trained specialist leading to delayed diagnosis.</a:t>
            </a: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 Previous machine learning models did not scale well to larger, imbalanced datasets, carrying a risk of overfitting. Models often do not generalize well due to differences in how ECGs work across patient populations.  </a:t>
            </a:r>
            <a:endParaRPr lang="en-US" dirty="0">
              <a:solidFill>
                <a:schemeClr val="bg1"/>
              </a:solidFill>
              <a:latin typeface="Times New Roman"/>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Most systems only offered 2D images of ECG signals or numerical predictions. The 2D ECG plot is not spatially correlated with the area of the heart that is affected (Dimensionality reduces this correlation).</a:t>
            </a:r>
          </a:p>
        </p:txBody>
      </p:sp>
    </p:spTree>
    <p:extLst>
      <p:ext uri="{BB962C8B-B14F-4D97-AF65-F5344CB8AC3E}">
        <p14:creationId xmlns:p14="http://schemas.microsoft.com/office/powerpoint/2010/main" val="2200854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614F7-258E-99B6-0E2E-CD6E3D061390}"/>
              </a:ext>
            </a:extLst>
          </p:cNvPr>
          <p:cNvSpPr>
            <a:spLocks noGrp="1"/>
          </p:cNvSpPr>
          <p:nvPr>
            <p:ph type="title"/>
          </p:nvPr>
        </p:nvSpPr>
        <p:spPr>
          <a:xfrm>
            <a:off x="684213" y="7187877"/>
            <a:ext cx="9825600" cy="11574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9217B6B5-7BB8-0C7C-1B37-7FCC61254DC1}"/>
              </a:ext>
            </a:extLst>
          </p:cNvPr>
          <p:cNvSpPr>
            <a:spLocks noGrp="1"/>
          </p:cNvSpPr>
          <p:nvPr>
            <p:ph idx="1"/>
          </p:nvPr>
        </p:nvSpPr>
        <p:spPr>
          <a:xfrm>
            <a:off x="348036" y="685800"/>
            <a:ext cx="10805203" cy="6048810"/>
          </a:xfrm>
        </p:spPr>
        <p:txBody>
          <a:bodyPr>
            <a:normAutofit/>
          </a:bodyPr>
          <a:lstStyle/>
          <a:p>
            <a:pPr marL="0" indent="0">
              <a:buNone/>
            </a:pPr>
            <a:r>
              <a:rPr lang="en-US" sz="4000" dirty="0">
                <a:solidFill>
                  <a:schemeClr val="bg1"/>
                </a:solidFill>
                <a:latin typeface="Times New Roman"/>
                <a:cs typeface="Times New Roman"/>
              </a:rPr>
              <a:t>Proposed system</a:t>
            </a:r>
            <a:endParaRPr lang="en-US" sz="4000" dirty="0">
              <a:solidFill>
                <a:schemeClr val="bg1"/>
              </a:solidFill>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Utilizes Augmented Reality (AR) along with Convolutional Neural Networks (CNN) to provide an interactive, accurate, and immersive experience.  CNN and Multilayer Perceptron (MLP) models exhibit highly efficient classification.   </a:t>
            </a:r>
            <a:endParaRPr lang="en-US" dirty="0">
              <a:solidFill>
                <a:schemeClr val="bg1"/>
              </a:solidFill>
              <a:latin typeface="Times New Roman"/>
              <a:ea typeface="+mn-lt"/>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Uses data rebalancing methods to classify with improved accuracy on imbalanced datasets.  </a:t>
            </a:r>
            <a:endParaRPr lang="en-US" dirty="0">
              <a:solidFill>
                <a:schemeClr val="bg1"/>
              </a:solidFill>
              <a:latin typeface="Times New Roman"/>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 An AR framework augmented with a 3D model of the human heart allows medical professionals to virtually visualize classifications and localize them in terms of anatomical sub-regions of the heart. 3D heart modelling allows better scrutiny of the cardiac regions.</a:t>
            </a:r>
            <a:endParaRPr lang="en-US" dirty="0">
              <a:solidFill>
                <a:schemeClr val="bg1"/>
              </a:solidFill>
              <a:latin typeface="Times New Roman"/>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 Automated classification reduces time and dependence on human interpretation of ECGs. The system provides more timely and accurate diagnosis.  </a:t>
            </a:r>
            <a:endParaRPr lang="en-US" dirty="0">
              <a:solidFill>
                <a:schemeClr val="bg1"/>
              </a:solidFill>
              <a:latin typeface="Times New Roman"/>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Applications: Interactive 3D Visualization - It allows clinicians to visualize and interact with a realistic 3D model of the human heart where arrhythmia anomalies are precisely localized. This helps in better scrutiny of the cardiac regions.</a:t>
            </a:r>
            <a:endParaRPr lang="en-US" dirty="0">
              <a:solidFill>
                <a:schemeClr val="bg1"/>
              </a:solidFill>
              <a:latin typeface="Times New Roman"/>
              <a:cs typeface="Times New Roman"/>
            </a:endParaRPr>
          </a:p>
          <a:p>
            <a:pPr>
              <a:buClr>
                <a:srgbClr val="FFFFFF"/>
              </a:buClr>
              <a:buFont typeface="Wingdings" panose="05040102010807070707" pitchFamily="18" charset="2"/>
              <a:buChar char="Ø"/>
            </a:pPr>
            <a:endParaRPr lang="en-US" dirty="0">
              <a:solidFill>
                <a:schemeClr val="bg1"/>
              </a:solidFill>
              <a:latin typeface="Times New Roman"/>
              <a:cs typeface="Times New Roman"/>
            </a:endParaRPr>
          </a:p>
        </p:txBody>
      </p:sp>
    </p:spTree>
    <p:extLst>
      <p:ext uri="{BB962C8B-B14F-4D97-AF65-F5344CB8AC3E}">
        <p14:creationId xmlns:p14="http://schemas.microsoft.com/office/powerpoint/2010/main" val="2865320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36112-9165-0949-365E-C9224A691ABB}"/>
              </a:ext>
            </a:extLst>
          </p:cNvPr>
          <p:cNvSpPr>
            <a:spLocks noGrp="1"/>
          </p:cNvSpPr>
          <p:nvPr>
            <p:ph type="title"/>
          </p:nvPr>
        </p:nvSpPr>
        <p:spPr>
          <a:xfrm>
            <a:off x="775504" y="7650866"/>
            <a:ext cx="8281062" cy="623746"/>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62D8F465-00F5-1E03-E355-725133038E28}"/>
              </a:ext>
            </a:extLst>
          </p:cNvPr>
          <p:cNvSpPr>
            <a:spLocks noGrp="1"/>
          </p:cNvSpPr>
          <p:nvPr>
            <p:ph idx="1"/>
          </p:nvPr>
        </p:nvSpPr>
        <p:spPr>
          <a:xfrm>
            <a:off x="684212" y="685800"/>
            <a:ext cx="10416988" cy="5296148"/>
          </a:xfrm>
        </p:spPr>
        <p:txBody>
          <a:bodyPr>
            <a:normAutofit/>
          </a:bodyPr>
          <a:lstStyle/>
          <a:p>
            <a:pPr marL="0" indent="0">
              <a:buNone/>
            </a:pPr>
            <a:r>
              <a:rPr lang="en-US" sz="4000" dirty="0">
                <a:solidFill>
                  <a:schemeClr val="bg1"/>
                </a:solidFill>
                <a:latin typeface="Times New Roman"/>
                <a:cs typeface="Times New Roman"/>
              </a:rPr>
              <a:t>System configuration </a:t>
            </a:r>
            <a:endParaRPr lang="en-US" sz="1600" dirty="0">
              <a:solidFill>
                <a:schemeClr val="bg1"/>
              </a:solidFill>
              <a:latin typeface="Times New Roman"/>
              <a:cs typeface="Times New Roman"/>
            </a:endParaRPr>
          </a:p>
          <a:p>
            <a:pPr marL="0" indent="0">
              <a:buClr>
                <a:srgbClr val="FFFFFF"/>
              </a:buClr>
              <a:buNone/>
            </a:pPr>
            <a:r>
              <a:rPr lang="en-US" dirty="0">
                <a:solidFill>
                  <a:schemeClr val="bg1"/>
                </a:solidFill>
                <a:latin typeface="Times New Roman"/>
                <a:ea typeface="+mn-lt"/>
                <a:cs typeface="+mn-lt"/>
              </a:rPr>
              <a:t>HARDWARE REQUIREMENTS:</a:t>
            </a:r>
          </a:p>
          <a:p>
            <a:pPr marL="0" indent="0">
              <a:buClr>
                <a:srgbClr val="FFFFFF"/>
              </a:buClr>
              <a:buNone/>
            </a:pPr>
            <a:r>
              <a:rPr lang="en-US" dirty="0">
                <a:solidFill>
                  <a:schemeClr val="bg1"/>
                </a:solidFill>
                <a:latin typeface="Times New Roman"/>
                <a:ea typeface="+mn-lt"/>
                <a:cs typeface="+mn-lt"/>
              </a:rPr>
              <a:t>•    System        : Pentium IV 2.4 GHz.</a:t>
            </a:r>
            <a:endParaRPr lang="en-US" dirty="0">
              <a:solidFill>
                <a:schemeClr val="bg1"/>
              </a:solidFill>
              <a:latin typeface="Times New Roman"/>
              <a:cs typeface="Times New Roman"/>
            </a:endParaRPr>
          </a:p>
          <a:p>
            <a:pPr marL="0" indent="0">
              <a:buClr>
                <a:srgbClr val="FFFFFF"/>
              </a:buClr>
              <a:buNone/>
            </a:pPr>
            <a:r>
              <a:rPr lang="en-US" dirty="0">
                <a:solidFill>
                  <a:schemeClr val="bg1"/>
                </a:solidFill>
                <a:latin typeface="Times New Roman"/>
                <a:ea typeface="+mn-lt"/>
                <a:cs typeface="+mn-lt"/>
              </a:rPr>
              <a:t>•    Hard Disk   : 40 GB.</a:t>
            </a:r>
            <a:endParaRPr lang="en-US" dirty="0">
              <a:solidFill>
                <a:schemeClr val="bg1"/>
              </a:solidFill>
              <a:latin typeface="Times New Roman"/>
              <a:cs typeface="Times New Roman"/>
            </a:endParaRPr>
          </a:p>
          <a:p>
            <a:pPr marL="0" indent="0">
              <a:buClr>
                <a:srgbClr val="FFFFFF"/>
              </a:buClr>
              <a:buNone/>
            </a:pPr>
            <a:r>
              <a:rPr lang="en-US" dirty="0">
                <a:solidFill>
                  <a:schemeClr val="bg1"/>
                </a:solidFill>
                <a:latin typeface="Times New Roman"/>
                <a:ea typeface="+mn-lt"/>
                <a:cs typeface="+mn-lt"/>
              </a:rPr>
              <a:t>•    Ram            : 512 Mb.</a:t>
            </a:r>
            <a:endParaRPr lang="en-US" dirty="0">
              <a:solidFill>
                <a:schemeClr val="bg1"/>
              </a:solidFill>
              <a:latin typeface="Times New Roman"/>
              <a:cs typeface="Times New Roman"/>
            </a:endParaRPr>
          </a:p>
          <a:p>
            <a:pPr marL="0" indent="0">
              <a:buNone/>
            </a:pPr>
            <a:endParaRPr lang="en-US" dirty="0">
              <a:solidFill>
                <a:schemeClr val="bg1"/>
              </a:solidFill>
              <a:latin typeface="Times New Roman"/>
              <a:ea typeface="+mn-lt"/>
              <a:cs typeface="+mn-lt"/>
            </a:endParaRPr>
          </a:p>
          <a:p>
            <a:pPr marL="0" indent="0">
              <a:buClr>
                <a:srgbClr val="FFFFFF"/>
              </a:buClr>
              <a:buNone/>
            </a:pPr>
            <a:r>
              <a:rPr lang="en-US" dirty="0">
                <a:solidFill>
                  <a:schemeClr val="bg1"/>
                </a:solidFill>
                <a:latin typeface="Times New Roman"/>
                <a:ea typeface="+mn-lt"/>
                <a:cs typeface="+mn-lt"/>
              </a:rPr>
              <a:t>SOFTWARE REQUIREMENTS:</a:t>
            </a:r>
            <a:endParaRPr lang="en-US" dirty="0">
              <a:solidFill>
                <a:schemeClr val="bg1"/>
              </a:solidFill>
              <a:latin typeface="Times New Roman"/>
              <a:cs typeface="Times New Roman"/>
            </a:endParaRPr>
          </a:p>
          <a:p>
            <a:pPr marL="0" indent="0">
              <a:buClr>
                <a:srgbClr val="FFFFFF"/>
              </a:buClr>
              <a:buNone/>
            </a:pPr>
            <a:r>
              <a:rPr lang="en-US" dirty="0">
                <a:solidFill>
                  <a:schemeClr val="bg1"/>
                </a:solidFill>
                <a:latin typeface="Times New Roman"/>
                <a:ea typeface="+mn-lt"/>
                <a:cs typeface="+mn-lt"/>
              </a:rPr>
              <a:t>•    Operating system    : Windows.</a:t>
            </a:r>
            <a:endParaRPr lang="en-US" dirty="0">
              <a:solidFill>
                <a:schemeClr val="bg1"/>
              </a:solidFill>
              <a:latin typeface="Times New Roman"/>
              <a:cs typeface="Times New Roman"/>
            </a:endParaRPr>
          </a:p>
          <a:p>
            <a:pPr marL="0" indent="0">
              <a:buClr>
                <a:srgbClr val="FFFFFF"/>
              </a:buClr>
              <a:buNone/>
            </a:pPr>
            <a:r>
              <a:rPr lang="en-US" dirty="0">
                <a:solidFill>
                  <a:schemeClr val="bg1"/>
                </a:solidFill>
                <a:latin typeface="Times New Roman"/>
                <a:ea typeface="+mn-lt"/>
                <a:cs typeface="+mn-lt"/>
              </a:rPr>
              <a:t>•    Coding Language    :  python.</a:t>
            </a:r>
            <a:endParaRPr lang="en-US" dirty="0">
              <a:solidFill>
                <a:schemeClr val="bg1"/>
              </a:solidFill>
              <a:latin typeface="Times New Roman"/>
              <a:cs typeface="Times New Roman"/>
            </a:endParaRPr>
          </a:p>
          <a:p>
            <a:pPr marL="0" indent="0">
              <a:buClr>
                <a:srgbClr val="FFFFFF"/>
              </a:buClr>
              <a:buNone/>
            </a:pPr>
            <a:endParaRPr lang="en-US" dirty="0">
              <a:solidFill>
                <a:schemeClr val="bg1"/>
              </a:solidFill>
              <a:latin typeface="Times New Roman"/>
              <a:cs typeface="Times New Roman"/>
            </a:endParaRPr>
          </a:p>
        </p:txBody>
      </p:sp>
      <p:grpSp>
        <p:nvGrpSpPr>
          <p:cNvPr id="4" name="Group 9">
            <a:extLst>
              <a:ext uri="{FF2B5EF4-FFF2-40B4-BE49-F238E27FC236}">
                <a16:creationId xmlns:a16="http://schemas.microsoft.com/office/drawing/2014/main" id="{75B41F24-109D-5F10-0D09-35CFCB1129C9}"/>
              </a:ext>
            </a:extLst>
          </p:cNvPr>
          <p:cNvGrpSpPr/>
          <p:nvPr/>
        </p:nvGrpSpPr>
        <p:grpSpPr>
          <a:xfrm>
            <a:off x="6296628" y="876052"/>
            <a:ext cx="4490977" cy="3927441"/>
            <a:chOff x="0" y="0"/>
            <a:chExt cx="547954" cy="465229"/>
          </a:xfrm>
        </p:grpSpPr>
        <p:sp>
          <p:nvSpPr>
            <p:cNvPr id="5" name="Freeform 10">
              <a:extLst>
                <a:ext uri="{FF2B5EF4-FFF2-40B4-BE49-F238E27FC236}">
                  <a16:creationId xmlns:a16="http://schemas.microsoft.com/office/drawing/2014/main" id="{F34F73AC-515D-37EF-8F69-89E154209E17}"/>
                </a:ext>
              </a:extLst>
            </p:cNvPr>
            <p:cNvSpPr/>
            <p:nvPr/>
          </p:nvSpPr>
          <p:spPr>
            <a:xfrm>
              <a:off x="0" y="0"/>
              <a:ext cx="547954" cy="465229"/>
            </a:xfrm>
            <a:custGeom>
              <a:avLst/>
              <a:gdLst/>
              <a:ahLst/>
              <a:cxnLst/>
              <a:rect l="l" t="t" r="r" b="b"/>
              <a:pathLst>
                <a:path w="547954" h="465229">
                  <a:moveTo>
                    <a:pt x="273977" y="0"/>
                  </a:moveTo>
                  <a:cubicBezTo>
                    <a:pt x="122664" y="0"/>
                    <a:pt x="0" y="104145"/>
                    <a:pt x="0" y="232614"/>
                  </a:cubicBezTo>
                  <a:cubicBezTo>
                    <a:pt x="0" y="361084"/>
                    <a:pt x="122664" y="465229"/>
                    <a:pt x="273977" y="465229"/>
                  </a:cubicBezTo>
                  <a:cubicBezTo>
                    <a:pt x="425291" y="465229"/>
                    <a:pt x="547954" y="361084"/>
                    <a:pt x="547954" y="232614"/>
                  </a:cubicBezTo>
                  <a:cubicBezTo>
                    <a:pt x="547954" y="104145"/>
                    <a:pt x="425291" y="0"/>
                    <a:pt x="273977" y="0"/>
                  </a:cubicBezTo>
                  <a:close/>
                </a:path>
              </a:pathLst>
            </a:custGeom>
            <a:blipFill>
              <a:blip r:embed="rId2"/>
              <a:stretch>
                <a:fillRect l="-13716" r="-13716"/>
              </a:stretch>
            </a:blipFill>
            <a:ln w="85725" cap="sq">
              <a:solidFill>
                <a:srgbClr val="FFFFFF"/>
              </a:solidFill>
              <a:prstDash val="solid"/>
              <a:miter/>
            </a:ln>
          </p:spPr>
        </p:sp>
      </p:grpSp>
    </p:spTree>
    <p:extLst>
      <p:ext uri="{BB962C8B-B14F-4D97-AF65-F5344CB8AC3E}">
        <p14:creationId xmlns:p14="http://schemas.microsoft.com/office/powerpoint/2010/main" val="285213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A23DE-7F66-E60F-DB43-45C165384C55}"/>
              </a:ext>
            </a:extLst>
          </p:cNvPr>
          <p:cNvSpPr>
            <a:spLocks noGrp="1"/>
          </p:cNvSpPr>
          <p:nvPr>
            <p:ph type="title"/>
          </p:nvPr>
        </p:nvSpPr>
        <p:spPr>
          <a:xfrm flipV="1">
            <a:off x="1412111" y="7256040"/>
            <a:ext cx="8130592" cy="863601"/>
          </a:xfrm>
        </p:spPr>
        <p:txBody>
          <a:bodyPr/>
          <a:lstStyle/>
          <a:p>
            <a:endParaRPr lang="en-US" dirty="0"/>
          </a:p>
        </p:txBody>
      </p:sp>
      <p:sp>
        <p:nvSpPr>
          <p:cNvPr id="3" name="Content Placeholder 2">
            <a:extLst>
              <a:ext uri="{FF2B5EF4-FFF2-40B4-BE49-F238E27FC236}">
                <a16:creationId xmlns:a16="http://schemas.microsoft.com/office/drawing/2014/main" id="{CE317ECB-C99F-78C8-2521-174C3CEDBEDE}"/>
              </a:ext>
            </a:extLst>
          </p:cNvPr>
          <p:cNvSpPr>
            <a:spLocks noGrp="1"/>
          </p:cNvSpPr>
          <p:nvPr>
            <p:ph idx="1"/>
          </p:nvPr>
        </p:nvSpPr>
        <p:spPr>
          <a:xfrm>
            <a:off x="684212" y="-2187463"/>
            <a:ext cx="8549025" cy="6488530"/>
          </a:xfrm>
        </p:spPr>
        <p:txBody>
          <a:bodyPr/>
          <a:lstStyle/>
          <a:p>
            <a:pPr marL="0" indent="0">
              <a:buNone/>
            </a:pPr>
            <a:r>
              <a:rPr lang="en-US" sz="4000" dirty="0">
                <a:solidFill>
                  <a:schemeClr val="bg1"/>
                </a:solidFill>
                <a:latin typeface="Times New Roman"/>
                <a:cs typeface="Times New Roman"/>
              </a:rPr>
              <a:t>System architecture</a:t>
            </a:r>
            <a:endParaRPr lang="en-US" sz="4000">
              <a:solidFill>
                <a:schemeClr val="bg1"/>
              </a:solidFill>
              <a:latin typeface="Times New Roman"/>
              <a:cs typeface="Times New Roman"/>
            </a:endParaRPr>
          </a:p>
          <a:p>
            <a:pPr>
              <a:buClr>
                <a:srgbClr val="FFFFFF"/>
              </a:buClr>
            </a:pPr>
            <a:endParaRPr lang="en-US" dirty="0"/>
          </a:p>
          <a:p>
            <a:pPr>
              <a:buClr>
                <a:srgbClr val="FFFFFF"/>
              </a:buClr>
            </a:pPr>
            <a:endParaRPr lang="en-US" dirty="0"/>
          </a:p>
          <a:p>
            <a:pPr>
              <a:buClr>
                <a:srgbClr val="FFFFFF"/>
              </a:buClr>
            </a:pPr>
            <a:endParaRPr lang="en-US" dirty="0"/>
          </a:p>
        </p:txBody>
      </p:sp>
      <p:pic>
        <p:nvPicPr>
          <p:cNvPr id="4" name="Picture 3">
            <a:extLst>
              <a:ext uri="{FF2B5EF4-FFF2-40B4-BE49-F238E27FC236}">
                <a16:creationId xmlns:a16="http://schemas.microsoft.com/office/drawing/2014/main" id="{D7E71CAF-085F-3660-969D-368ADBB61C6A}"/>
              </a:ext>
            </a:extLst>
          </p:cNvPr>
          <p:cNvPicPr>
            <a:picLocks noChangeAspect="1"/>
          </p:cNvPicPr>
          <p:nvPr/>
        </p:nvPicPr>
        <p:blipFill>
          <a:blip r:embed="rId2"/>
          <a:stretch>
            <a:fillRect/>
          </a:stretch>
        </p:blipFill>
        <p:spPr>
          <a:xfrm>
            <a:off x="3638550" y="1022381"/>
            <a:ext cx="7162154" cy="5653491"/>
          </a:xfrm>
          <a:prstGeom prst="rect">
            <a:avLst/>
          </a:prstGeom>
        </p:spPr>
      </p:pic>
    </p:spTree>
    <p:extLst>
      <p:ext uri="{BB962C8B-B14F-4D97-AF65-F5344CB8AC3E}">
        <p14:creationId xmlns:p14="http://schemas.microsoft.com/office/powerpoint/2010/main" val="1647762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F88FE-2BBD-ECD4-AA29-2E4BC0CF08F4}"/>
              </a:ext>
            </a:extLst>
          </p:cNvPr>
          <p:cNvSpPr>
            <a:spLocks noGrp="1"/>
          </p:cNvSpPr>
          <p:nvPr>
            <p:ph type="title"/>
          </p:nvPr>
        </p:nvSpPr>
        <p:spPr>
          <a:xfrm>
            <a:off x="684211" y="7454095"/>
            <a:ext cx="8216721" cy="24306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3D5E6FB-5909-2592-0CED-57C3518AE8DF}"/>
              </a:ext>
            </a:extLst>
          </p:cNvPr>
          <p:cNvSpPr>
            <a:spLocks noGrp="1"/>
          </p:cNvSpPr>
          <p:nvPr>
            <p:ph idx="1"/>
          </p:nvPr>
        </p:nvSpPr>
        <p:spPr>
          <a:xfrm>
            <a:off x="280801" y="685800"/>
            <a:ext cx="11016090" cy="4846899"/>
          </a:xfrm>
        </p:spPr>
        <p:txBody>
          <a:bodyPr>
            <a:normAutofit fontScale="85000" lnSpcReduction="20000"/>
          </a:bodyPr>
          <a:lstStyle/>
          <a:p>
            <a:pPr marL="0" indent="0">
              <a:buNone/>
            </a:pPr>
            <a:r>
              <a:rPr lang="en-US" sz="4000" dirty="0">
                <a:solidFill>
                  <a:schemeClr val="bg1"/>
                </a:solidFill>
                <a:latin typeface="Times New Roman"/>
                <a:cs typeface="Times New Roman"/>
              </a:rPr>
              <a:t>Modules</a:t>
            </a:r>
          </a:p>
          <a:p>
            <a:pPr>
              <a:buClr>
                <a:srgbClr val="FFFFFF"/>
              </a:buClr>
              <a:buFont typeface="Wingdings" panose="05040102010807070707" pitchFamily="18" charset="2"/>
              <a:buChar char="Ø"/>
            </a:pPr>
            <a:endParaRPr lang="en-US" dirty="0"/>
          </a:p>
          <a:p>
            <a:pPr marL="342900" indent="-342900" algn="just">
              <a:buClr>
                <a:srgbClr val="FFFFFF"/>
              </a:buClr>
              <a:buFont typeface="Wingdings" panose="05040102010807070707" pitchFamily="18" charset="2"/>
              <a:buChar char="Ø"/>
            </a:pPr>
            <a:r>
              <a:rPr lang="en-US" sz="2600" dirty="0">
                <a:solidFill>
                  <a:schemeClr val="bg1"/>
                </a:solidFill>
                <a:latin typeface="Times New Roman"/>
                <a:ea typeface="+mn-lt"/>
                <a:cs typeface="+mn-lt"/>
              </a:rPr>
              <a:t>Data Acquisition &amp; Preprocessing: </a:t>
            </a:r>
            <a:r>
              <a:rPr lang="en-US" dirty="0">
                <a:solidFill>
                  <a:schemeClr val="bg1"/>
                </a:solidFill>
                <a:latin typeface="Times New Roman"/>
                <a:ea typeface="+mn-lt"/>
                <a:cs typeface="+mn-lt"/>
              </a:rPr>
              <a:t>Collects ECG data and applies noise filtering, normalization, and data rebalancing. Prepares clean, balanced data for training.</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sz="2600" dirty="0">
                <a:solidFill>
                  <a:schemeClr val="bg1"/>
                </a:solidFill>
                <a:latin typeface="Times New Roman"/>
                <a:ea typeface="+mn-lt"/>
                <a:cs typeface="+mn-lt"/>
              </a:rPr>
              <a:t>Feature Extraction &amp; Classification: </a:t>
            </a:r>
            <a:r>
              <a:rPr lang="en-US" dirty="0">
                <a:solidFill>
                  <a:schemeClr val="bg1"/>
                </a:solidFill>
                <a:latin typeface="Times New Roman"/>
                <a:ea typeface="+mn-lt"/>
                <a:cs typeface="+mn-lt"/>
              </a:rPr>
              <a:t>Runs CNN/MLP models to automatically detect and classify arrhythmia types. Highly accurate, automated diagnosis (99.07\% accuracy).</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sz="2600" dirty="0">
                <a:solidFill>
                  <a:schemeClr val="bg1"/>
                </a:solidFill>
                <a:latin typeface="Times New Roman"/>
                <a:ea typeface="+mn-lt"/>
                <a:cs typeface="+mn-lt"/>
              </a:rPr>
              <a:t>3D Heart Modelling: </a:t>
            </a:r>
            <a:r>
              <a:rPr lang="en-US" dirty="0">
                <a:solidFill>
                  <a:schemeClr val="bg1"/>
                </a:solidFill>
                <a:latin typeface="Times New Roman"/>
                <a:ea typeface="+mn-lt"/>
                <a:cs typeface="+mn-lt"/>
              </a:rPr>
              <a:t>Creates a realistic 3D heart model and maps ECG findings to specific anatomical regions. Allows better scrutiny and spatial correlation of cardiac regions.</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sz="2600" dirty="0">
                <a:solidFill>
                  <a:schemeClr val="bg1"/>
                </a:solidFill>
                <a:latin typeface="Times New Roman"/>
                <a:ea typeface="+mn-lt"/>
                <a:cs typeface="+mn-lt"/>
              </a:rPr>
              <a:t>Augmented Reality (AR) Integration: </a:t>
            </a:r>
            <a:r>
              <a:rPr lang="en-US" dirty="0">
                <a:solidFill>
                  <a:schemeClr val="bg1"/>
                </a:solidFill>
                <a:latin typeface="Times New Roman"/>
                <a:ea typeface="+mn-lt"/>
                <a:cs typeface="+mn-lt"/>
              </a:rPr>
              <a:t>Displays the ECG classification and 3D heart model within an AR environment. Allows real-time visualization and interaction with anomalies.</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sz="2800" dirty="0">
                <a:solidFill>
                  <a:schemeClr val="bg1"/>
                </a:solidFill>
                <a:latin typeface="Times New Roman"/>
                <a:ea typeface="+mn-lt"/>
                <a:cs typeface="+mn-lt"/>
              </a:rPr>
              <a:t>Visualization &amp; Interaction: </a:t>
            </a:r>
            <a:r>
              <a:rPr lang="en-US" dirty="0">
                <a:solidFill>
                  <a:schemeClr val="bg1"/>
                </a:solidFill>
                <a:latin typeface="Times New Roman"/>
                <a:ea typeface="+mn-lt"/>
                <a:cs typeface="+mn-lt"/>
              </a:rPr>
              <a:t>Facilitates real-time visualization, 3D simulation, and user interaction with localized anomalies. Supports clinical decision-making and patient education.</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sz="2800" dirty="0">
                <a:solidFill>
                  <a:schemeClr val="bg1"/>
                </a:solidFill>
                <a:latin typeface="Times New Roman"/>
                <a:ea typeface="+mn-lt"/>
                <a:cs typeface="+mn-lt"/>
              </a:rPr>
              <a:t>Decision Support &amp; Evaluation: </a:t>
            </a:r>
            <a:r>
              <a:rPr lang="en-US" dirty="0">
                <a:solidFill>
                  <a:schemeClr val="bg1"/>
                </a:solidFill>
                <a:latin typeface="Times New Roman"/>
                <a:ea typeface="+mn-lt"/>
                <a:cs typeface="+mn-lt"/>
              </a:rPr>
              <a:t>Evaluates performance metrics(accuracy, f1-score) and provides interpretability</a:t>
            </a:r>
            <a:endParaRPr lang="en-US" dirty="0">
              <a:solidFill>
                <a:schemeClr val="bg1"/>
              </a:solidFill>
              <a:latin typeface="Times New Roman"/>
              <a:cs typeface="Times New Roman"/>
            </a:endParaRPr>
          </a:p>
          <a:p>
            <a:pPr>
              <a:buClr>
                <a:srgbClr val="FFFFFF"/>
              </a:buClr>
              <a:buFont typeface="Wingdings" panose="05040102010807070707" pitchFamily="18" charset="2"/>
              <a:buChar char="Ø"/>
            </a:pPr>
            <a:endParaRPr lang="en-US" dirty="0"/>
          </a:p>
          <a:p>
            <a:pPr>
              <a:buClr>
                <a:srgbClr val="FFFFFF"/>
              </a:buClr>
              <a:buFont typeface="Wingdings" panose="05040102010807070707" pitchFamily="18" charset="2"/>
              <a:buChar char="Ø"/>
            </a:pPr>
            <a:endParaRPr lang="en-US" dirty="0"/>
          </a:p>
        </p:txBody>
      </p:sp>
    </p:spTree>
    <p:extLst>
      <p:ext uri="{BB962C8B-B14F-4D97-AF65-F5344CB8AC3E}">
        <p14:creationId xmlns:p14="http://schemas.microsoft.com/office/powerpoint/2010/main" val="3890009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68611-C383-7571-4268-C997A4EAF023}"/>
              </a:ext>
            </a:extLst>
          </p:cNvPr>
          <p:cNvSpPr>
            <a:spLocks noGrp="1"/>
          </p:cNvSpPr>
          <p:nvPr>
            <p:ph type="title"/>
          </p:nvPr>
        </p:nvSpPr>
        <p:spPr>
          <a:xfrm flipV="1">
            <a:off x="671332" y="7338349"/>
            <a:ext cx="8547279" cy="26621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2DDF5322-2CC5-C41E-1ED0-EF9D74225180}"/>
              </a:ext>
            </a:extLst>
          </p:cNvPr>
          <p:cNvSpPr>
            <a:spLocks noGrp="1"/>
          </p:cNvSpPr>
          <p:nvPr>
            <p:ph idx="1"/>
          </p:nvPr>
        </p:nvSpPr>
        <p:spPr>
          <a:xfrm>
            <a:off x="439838" y="497711"/>
            <a:ext cx="9583838" cy="5926238"/>
          </a:xfrm>
        </p:spPr>
        <p:txBody>
          <a:bodyPr vert="horz" lIns="91440" tIns="45720" rIns="91440" bIns="45720" rtlCol="0" anchor="ctr">
            <a:noAutofit/>
          </a:bodyPr>
          <a:lstStyle/>
          <a:p>
            <a:pPr marL="0" indent="0">
              <a:buClr>
                <a:srgbClr val="FFFFFF"/>
              </a:buClr>
              <a:buNone/>
            </a:pPr>
            <a:endParaRPr lang="en-US" b="1" dirty="0">
              <a:solidFill>
                <a:srgbClr val="333333"/>
              </a:solidFill>
              <a:latin typeface="Times New Roman" panose="02020603050405020304" pitchFamily="18" charset="0"/>
              <a:cs typeface="Times New Roman" panose="02020603050405020304" pitchFamily="18" charset="0"/>
            </a:endParaRPr>
          </a:p>
          <a:p>
            <a:pPr marL="0" indent="0">
              <a:buClr>
                <a:srgbClr val="FFFFFF"/>
              </a:buClr>
              <a:buNone/>
            </a:pPr>
            <a:endParaRPr lang="en-US" sz="2400" b="1" dirty="0">
              <a:solidFill>
                <a:srgbClr val="333333"/>
              </a:solidFill>
              <a:latin typeface="Times New Roman" panose="02020603050405020304" pitchFamily="18" charset="0"/>
              <a:cs typeface="Times New Roman" panose="02020603050405020304" pitchFamily="18" charset="0"/>
            </a:endParaRPr>
          </a:p>
          <a:p>
            <a:pPr marL="0" indent="0">
              <a:buClr>
                <a:srgbClr val="FFFFFF"/>
              </a:buClr>
              <a:buNone/>
            </a:pPr>
            <a:r>
              <a:rPr lang="en-US" sz="3200" b="1" dirty="0">
                <a:solidFill>
                  <a:schemeClr val="bg1"/>
                </a:solidFill>
                <a:latin typeface="Times New Roman"/>
                <a:cs typeface="Times New Roman"/>
              </a:rPr>
              <a:t>Literature survey</a:t>
            </a:r>
            <a:endParaRPr lang="en-US" sz="3200" b="1" dirty="0">
              <a:solidFill>
                <a:srgbClr val="333333"/>
              </a:solidFill>
              <a:latin typeface="Times New Roman" panose="02020603050405020304" pitchFamily="18" charset="0"/>
              <a:cs typeface="Times New Roman" panose="02020603050405020304" pitchFamily="18" charset="0"/>
            </a:endParaRPr>
          </a:p>
          <a:p>
            <a:pPr marL="0" indent="0">
              <a:buClr>
                <a:srgbClr val="FFFFFF"/>
              </a:buClr>
              <a:buNone/>
            </a:pPr>
            <a:endParaRPr lang="en-US" sz="2400" b="1" dirty="0">
              <a:solidFill>
                <a:srgbClr val="333333"/>
              </a:solidFill>
              <a:latin typeface="Times New Roman" panose="02020603050405020304" pitchFamily="18" charset="0"/>
              <a:cs typeface="Times New Roman" panose="02020603050405020304" pitchFamily="18" charset="0"/>
            </a:endParaRPr>
          </a:p>
          <a:p>
            <a:pPr marL="0" indent="0" algn="just">
              <a:buClr>
                <a:srgbClr val="FFFFFF"/>
              </a:buClr>
              <a:buNone/>
            </a:pPr>
            <a:r>
              <a:rPr lang="en-US" sz="2400" dirty="0">
                <a:solidFill>
                  <a:schemeClr val="bg1"/>
                </a:solidFill>
                <a:latin typeface="Times New Roman"/>
                <a:ea typeface="+mn-lt"/>
                <a:cs typeface="+mn-lt"/>
              </a:rPr>
              <a:t>Paper Title: </a:t>
            </a:r>
            <a:r>
              <a:rPr lang="en-US" dirty="0">
                <a:solidFill>
                  <a:schemeClr val="bg1"/>
                </a:solidFill>
                <a:latin typeface="Times New Roman"/>
                <a:ea typeface="+mn-lt"/>
                <a:cs typeface="+mn-lt"/>
              </a:rPr>
              <a:t>Prediction of ECG signals from </a:t>
            </a:r>
            <a:r>
              <a:rPr lang="en-US" dirty="0" err="1">
                <a:solidFill>
                  <a:schemeClr val="bg1"/>
                </a:solidFill>
                <a:latin typeface="Times New Roman"/>
                <a:ea typeface="+mn-lt"/>
                <a:cs typeface="+mn-lt"/>
              </a:rPr>
              <a:t>ballistocardiography</a:t>
            </a:r>
            <a:r>
              <a:rPr lang="en-US" dirty="0">
                <a:solidFill>
                  <a:schemeClr val="bg1"/>
                </a:solidFill>
                <a:latin typeface="Times New Roman"/>
                <a:ea typeface="+mn-lt"/>
                <a:cs typeface="+mn-lt"/>
              </a:rPr>
              <a:t> using deep learning for the unconstrained measurement of heartbeat intervals</a:t>
            </a:r>
            <a:endParaRPr lang="en-US" dirty="0">
              <a:solidFill>
                <a:schemeClr val="bg1"/>
              </a:solidFill>
              <a:latin typeface="Times New Roman"/>
              <a:ea typeface="+mn-lt"/>
              <a:cs typeface="Times New Roman"/>
            </a:endParaRPr>
          </a:p>
          <a:p>
            <a:pPr marL="0" indent="0" algn="just">
              <a:buNone/>
            </a:pPr>
            <a:r>
              <a:rPr lang="en-US" sz="2400" dirty="0">
                <a:solidFill>
                  <a:schemeClr val="bg1"/>
                </a:solidFill>
                <a:latin typeface="Times New Roman"/>
                <a:ea typeface="+mn-lt"/>
                <a:cs typeface="+mn-lt"/>
              </a:rPr>
              <a:t>published year</a:t>
            </a:r>
            <a:r>
              <a:rPr lang="en-US" dirty="0">
                <a:solidFill>
                  <a:schemeClr val="bg1"/>
                </a:solidFill>
                <a:latin typeface="Times New Roman"/>
                <a:ea typeface="+mn-lt"/>
                <a:cs typeface="+mn-lt"/>
              </a:rPr>
              <a:t>: 2025</a:t>
            </a:r>
            <a:endParaRPr lang="en-US" dirty="0">
              <a:solidFill>
                <a:schemeClr val="bg1"/>
              </a:solidFill>
              <a:latin typeface="Times New Roman"/>
              <a:ea typeface="+mn-lt"/>
              <a:cs typeface="Times New Roman"/>
            </a:endParaRPr>
          </a:p>
          <a:p>
            <a:pPr marL="0" indent="0" algn="just">
              <a:buClr>
                <a:srgbClr val="FFFFFF"/>
              </a:buClr>
              <a:buNone/>
            </a:pPr>
            <a:r>
              <a:rPr lang="en-US" sz="2400" dirty="0">
                <a:solidFill>
                  <a:schemeClr val="bg1"/>
                </a:solidFill>
                <a:latin typeface="Times New Roman"/>
                <a:ea typeface="+mn-lt"/>
                <a:cs typeface="+mn-lt"/>
              </a:rPr>
              <a:t>Author: </a:t>
            </a:r>
            <a:r>
              <a:rPr lang="en-US" dirty="0">
                <a:solidFill>
                  <a:schemeClr val="bg1"/>
                </a:solidFill>
                <a:latin typeface="Times New Roman"/>
                <a:ea typeface="+mn-lt"/>
                <a:cs typeface="+mn-lt"/>
              </a:rPr>
              <a:t>Seiichi </a:t>
            </a:r>
            <a:r>
              <a:rPr lang="en-US" dirty="0" err="1">
                <a:solidFill>
                  <a:schemeClr val="bg1"/>
                </a:solidFill>
                <a:latin typeface="Times New Roman"/>
                <a:ea typeface="+mn-lt"/>
                <a:cs typeface="+mn-lt"/>
              </a:rPr>
              <a:t>Morokuma</a:t>
            </a:r>
            <a:endParaRPr lang="en-US" dirty="0">
              <a:solidFill>
                <a:schemeClr val="bg1"/>
              </a:solidFill>
              <a:latin typeface="Times New Roman"/>
              <a:ea typeface="+mn-lt"/>
              <a:cs typeface="+mn-lt"/>
            </a:endParaRPr>
          </a:p>
          <a:p>
            <a:pPr marL="0" indent="0" algn="just">
              <a:buClr>
                <a:srgbClr val="FFFFFF"/>
              </a:buClr>
              <a:buNone/>
            </a:pPr>
            <a:r>
              <a:rPr lang="en-US" sz="2400" dirty="0">
                <a:solidFill>
                  <a:schemeClr val="bg1"/>
                </a:solidFill>
                <a:latin typeface="Times New Roman" panose="02020603050405020304" pitchFamily="18" charset="0"/>
                <a:cs typeface="Times New Roman" panose="02020603050405020304" pitchFamily="18" charset="0"/>
              </a:rPr>
              <a:t>Summary</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a:ea typeface="+mn-lt"/>
              <a:cs typeface="+mn-lt"/>
            </a:endParaRPr>
          </a:p>
          <a:p>
            <a:pPr marL="342900" indent="-342900" algn="just">
              <a:buFont typeface="Arial" panose="05040102010807070707" pitchFamily="18" charset="2"/>
              <a:buChar char="•"/>
            </a:pPr>
            <a:r>
              <a:rPr lang="en-US" dirty="0">
                <a:solidFill>
                  <a:schemeClr val="bg1"/>
                </a:solidFill>
                <a:latin typeface="Times New Roman"/>
                <a:ea typeface="+mn-lt"/>
                <a:cs typeface="+mn-lt"/>
              </a:rPr>
              <a:t>The paper uses deep learning to convert BCG signals into ECG-like signals, allowing heartbeats to be measured without attaching electrodes to the body.</a:t>
            </a:r>
            <a:endParaRPr lang="en-US" dirty="0">
              <a:solidFill>
                <a:schemeClr val="bg1"/>
              </a:solidFill>
              <a:latin typeface="Times New Roman"/>
              <a:cs typeface="Times New Roman"/>
            </a:endParaRPr>
          </a:p>
          <a:p>
            <a:pPr marL="342900" indent="-342900" algn="just">
              <a:buFont typeface="Arial" panose="05040102010807070707" pitchFamily="18" charset="2"/>
              <a:buChar char="•"/>
            </a:pPr>
            <a:r>
              <a:rPr lang="en-US" dirty="0">
                <a:solidFill>
                  <a:schemeClr val="bg1"/>
                </a:solidFill>
                <a:latin typeface="Times New Roman"/>
                <a:ea typeface="+mn-lt"/>
                <a:cs typeface="+mn-lt"/>
              </a:rPr>
              <a:t>The method showed high accuracy in predicting heartbeat intervals, even during long-term overnight monitoring, proving it can support comfortable and continuous heart-rate tracking.</a:t>
            </a:r>
            <a:endParaRPr lang="en-US" dirty="0">
              <a:solidFill>
                <a:schemeClr val="bg1"/>
              </a:solidFill>
              <a:latin typeface="Times New Roman"/>
              <a:cs typeface="Times New Roman"/>
            </a:endParaRPr>
          </a:p>
          <a:p>
            <a:pPr marL="342900" indent="-342900">
              <a:buClr>
                <a:prstClr val="white"/>
              </a:buClr>
              <a:buFont typeface="Arial" panose="05040102010807070707" pitchFamily="18" charset="2"/>
              <a:buChar char="•"/>
            </a:pPr>
            <a:endParaRPr lang="en-US" dirty="0">
              <a:solidFill>
                <a:schemeClr val="bg1"/>
              </a:solidFill>
              <a:latin typeface="Times New Roman"/>
              <a:ea typeface="+mn-lt"/>
              <a:cs typeface="+mn-lt"/>
            </a:endParaRPr>
          </a:p>
          <a:p>
            <a:pPr marL="0" indent="0">
              <a:buClr>
                <a:srgbClr val="FFFFFF"/>
              </a:buClr>
              <a:buNone/>
            </a:pPr>
            <a:endParaRPr lang="en-US" dirty="0">
              <a:solidFill>
                <a:schemeClr val="bg1"/>
              </a:solidFill>
              <a:latin typeface="Times New Roman"/>
              <a:cs typeface="Times New Roman"/>
            </a:endParaRPr>
          </a:p>
        </p:txBody>
      </p:sp>
    </p:spTree>
    <p:extLst>
      <p:ext uri="{BB962C8B-B14F-4D97-AF65-F5344CB8AC3E}">
        <p14:creationId xmlns:p14="http://schemas.microsoft.com/office/powerpoint/2010/main" val="4145065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4A37-8C8A-ED6C-1407-3150D159A120}"/>
              </a:ext>
            </a:extLst>
          </p:cNvPr>
          <p:cNvSpPr>
            <a:spLocks noGrp="1"/>
          </p:cNvSpPr>
          <p:nvPr>
            <p:ph type="title"/>
          </p:nvPr>
        </p:nvSpPr>
        <p:spPr>
          <a:xfrm>
            <a:off x="358815" y="7639290"/>
            <a:ext cx="8859797" cy="15047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6D844EF6-391C-D16D-1B50-940E809ED6CD}"/>
              </a:ext>
            </a:extLst>
          </p:cNvPr>
          <p:cNvSpPr>
            <a:spLocks noGrp="1"/>
          </p:cNvSpPr>
          <p:nvPr>
            <p:ph idx="1"/>
          </p:nvPr>
        </p:nvSpPr>
        <p:spPr>
          <a:xfrm>
            <a:off x="567159" y="717632"/>
            <a:ext cx="10498237" cy="5312778"/>
          </a:xfrm>
        </p:spPr>
        <p:txBody>
          <a:bodyPr vert="horz" lIns="91440" tIns="45720" rIns="91440" bIns="45720" rtlCol="0" anchor="ctr">
            <a:noAutofit/>
          </a:bodyPr>
          <a:lstStyle/>
          <a:p>
            <a:pPr marL="0" indent="0" algn="just">
              <a:buNone/>
            </a:pPr>
            <a:r>
              <a:rPr lang="en-US" sz="2400" b="1" dirty="0">
                <a:solidFill>
                  <a:schemeClr val="bg1"/>
                </a:solidFill>
                <a:latin typeface="Times New Roman"/>
                <a:cs typeface="Times New Roman"/>
              </a:rPr>
              <a:t>Survey-2:</a:t>
            </a:r>
          </a:p>
          <a:p>
            <a:pPr marL="0" indent="0" algn="just">
              <a:buNone/>
            </a:pPr>
            <a:r>
              <a:rPr lang="en-US" sz="2400" dirty="0">
                <a:solidFill>
                  <a:schemeClr val="bg1"/>
                </a:solidFill>
                <a:latin typeface="Times New Roman"/>
                <a:cs typeface="Times New Roman"/>
              </a:rPr>
              <a:t>Paper Title</a:t>
            </a:r>
            <a:r>
              <a:rPr lang="en-US" dirty="0">
                <a:solidFill>
                  <a:schemeClr val="bg1"/>
                </a:solidFill>
                <a:latin typeface="Times New Roman"/>
                <a:cs typeface="Times New Roman"/>
              </a:rPr>
              <a:t>:  </a:t>
            </a:r>
            <a:r>
              <a:rPr lang="en-US" dirty="0" err="1">
                <a:solidFill>
                  <a:schemeClr val="bg1"/>
                </a:solidFill>
                <a:latin typeface="Times New Roman"/>
                <a:cs typeface="Times New Roman"/>
              </a:rPr>
              <a:t>pACPs</a:t>
            </a:r>
            <a:r>
              <a:rPr lang="en-US" dirty="0">
                <a:solidFill>
                  <a:schemeClr val="bg1"/>
                </a:solidFill>
                <a:latin typeface="Times New Roman"/>
                <a:cs typeface="Times New Roman"/>
              </a:rPr>
              <a:t>-DNN: Predicting anticancer peptides using novel peptide transformation into evolutionary and structure matrix-based images with self-attention deep </a:t>
            </a:r>
            <a:r>
              <a:rPr lang="en-US" dirty="0" err="1">
                <a:solidFill>
                  <a:schemeClr val="bg1"/>
                </a:solidFill>
                <a:latin typeface="Times New Roman"/>
                <a:cs typeface="Times New Roman"/>
              </a:rPr>
              <a:t>learningmodel</a:t>
            </a:r>
            <a:endParaRPr lang="en-US" dirty="0">
              <a:solidFill>
                <a:schemeClr val="bg1"/>
              </a:solidFill>
              <a:latin typeface="Times New Roman"/>
              <a:cs typeface="Times New Roman"/>
            </a:endParaRPr>
          </a:p>
          <a:p>
            <a:pPr marL="0" indent="0" algn="just">
              <a:buClr>
                <a:srgbClr val="FFFFFF"/>
              </a:buClr>
              <a:buNone/>
            </a:pPr>
            <a:r>
              <a:rPr lang="en-US" sz="2400" dirty="0">
                <a:solidFill>
                  <a:schemeClr val="bg1"/>
                </a:solidFill>
                <a:latin typeface="Times New Roman"/>
                <a:cs typeface="Times New Roman"/>
              </a:rPr>
              <a:t>Published year </a:t>
            </a:r>
            <a:r>
              <a:rPr lang="en-US" dirty="0">
                <a:solidFill>
                  <a:schemeClr val="bg1"/>
                </a:solidFill>
                <a:latin typeface="Times New Roman"/>
                <a:cs typeface="Times New Roman"/>
              </a:rPr>
              <a:t>: 2025</a:t>
            </a:r>
          </a:p>
          <a:p>
            <a:pPr marL="0" indent="0" algn="just">
              <a:buClr>
                <a:srgbClr val="FFFFFF"/>
              </a:buClr>
              <a:buNone/>
            </a:pPr>
            <a:r>
              <a:rPr lang="en-US" sz="2400" dirty="0">
                <a:solidFill>
                  <a:schemeClr val="bg1"/>
                </a:solidFill>
                <a:latin typeface="Times New Roman"/>
                <a:cs typeface="Times New Roman"/>
              </a:rPr>
              <a:t>Author: </a:t>
            </a:r>
            <a:r>
              <a:rPr lang="en-US" dirty="0">
                <a:solidFill>
                  <a:schemeClr val="bg1"/>
                </a:solidFill>
                <a:latin typeface="Times New Roman"/>
                <a:cs typeface="Times New Roman"/>
              </a:rPr>
              <a:t>Ali Raza, Shahid</a:t>
            </a:r>
          </a:p>
          <a:p>
            <a:pPr marL="0" indent="0" algn="just">
              <a:buClr>
                <a:srgbClr val="FFFFFF"/>
              </a:buClr>
              <a:buNone/>
            </a:pPr>
            <a:r>
              <a:rPr lang="en-US" sz="2400" dirty="0">
                <a:solidFill>
                  <a:schemeClr val="bg1"/>
                </a:solidFill>
                <a:latin typeface="Times New Roman"/>
                <a:cs typeface="Times New Roman"/>
              </a:rPr>
              <a:t>Summary:</a:t>
            </a:r>
          </a:p>
          <a:p>
            <a:pPr marL="342900" indent="-342900" algn="just">
              <a:buClr>
                <a:srgbClr val="FFFFFF"/>
              </a:buClr>
              <a:buFont typeface="Arial" panose="05040102010807070707" pitchFamily="18" charset="2"/>
              <a:buChar char="•"/>
            </a:pPr>
            <a:r>
              <a:rPr lang="en-US" dirty="0">
                <a:solidFill>
                  <a:schemeClr val="bg1"/>
                </a:solidFill>
                <a:latin typeface="Times New Roman"/>
                <a:ea typeface="+mn-lt"/>
                <a:cs typeface="+mn-lt"/>
              </a:rPr>
              <a:t>The paper converts peptide sequences into image-like representations using evolutionary and structural features, then uses a self-attention deep learning model to analyze them.</a:t>
            </a:r>
            <a:endParaRPr lang="en-US" dirty="0">
              <a:solidFill>
                <a:schemeClr val="bg1"/>
              </a:solidFill>
              <a:latin typeface="Times New Roman"/>
              <a:cs typeface="Times New Roman"/>
            </a:endParaRPr>
          </a:p>
          <a:p>
            <a:pPr marL="342900" indent="-342900" algn="just">
              <a:buClr>
                <a:srgbClr val="FFFFFF"/>
              </a:buClr>
              <a:buFont typeface="Arial" panose="05040102010807070707" pitchFamily="18" charset="2"/>
              <a:buChar char="•"/>
            </a:pPr>
            <a:r>
              <a:rPr lang="en-US" dirty="0">
                <a:solidFill>
                  <a:schemeClr val="bg1"/>
                </a:solidFill>
                <a:latin typeface="Times New Roman"/>
                <a:ea typeface="+mn-lt"/>
                <a:cs typeface="+mn-lt"/>
              </a:rPr>
              <a:t>The model shows very high accuracy in identifying anticancer peptides, outperforming previous methods.</a:t>
            </a:r>
            <a:endParaRPr lang="en-US" dirty="0">
              <a:solidFill>
                <a:schemeClr val="bg1"/>
              </a:solidFill>
              <a:latin typeface="Times New Roman"/>
              <a:cs typeface="Times New Roman"/>
            </a:endParaRPr>
          </a:p>
        </p:txBody>
      </p:sp>
    </p:spTree>
    <p:extLst>
      <p:ext uri="{BB962C8B-B14F-4D97-AF65-F5344CB8AC3E}">
        <p14:creationId xmlns:p14="http://schemas.microsoft.com/office/powerpoint/2010/main" val="2071595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995DB-8474-D672-13A8-B9971928CBB6}"/>
              </a:ext>
            </a:extLst>
          </p:cNvPr>
          <p:cNvSpPr>
            <a:spLocks noGrp="1"/>
          </p:cNvSpPr>
          <p:nvPr>
            <p:ph type="title"/>
          </p:nvPr>
        </p:nvSpPr>
        <p:spPr>
          <a:xfrm flipV="1">
            <a:off x="914400" y="7627715"/>
            <a:ext cx="8304212" cy="787079"/>
          </a:xfrm>
        </p:spPr>
        <p:txBody>
          <a:bodyPr/>
          <a:lstStyle/>
          <a:p>
            <a:endParaRPr lang="en-US" dirty="0"/>
          </a:p>
        </p:txBody>
      </p:sp>
      <p:sp>
        <p:nvSpPr>
          <p:cNvPr id="3" name="Content Placeholder 2">
            <a:extLst>
              <a:ext uri="{FF2B5EF4-FFF2-40B4-BE49-F238E27FC236}">
                <a16:creationId xmlns:a16="http://schemas.microsoft.com/office/drawing/2014/main" id="{B6621C6C-84D6-6D6E-6A1B-05160DD60C10}"/>
              </a:ext>
            </a:extLst>
          </p:cNvPr>
          <p:cNvSpPr>
            <a:spLocks noGrp="1"/>
          </p:cNvSpPr>
          <p:nvPr>
            <p:ph idx="1"/>
          </p:nvPr>
        </p:nvSpPr>
        <p:spPr>
          <a:xfrm>
            <a:off x="914400" y="685800"/>
            <a:ext cx="9245506" cy="4210291"/>
          </a:xfrm>
        </p:spPr>
        <p:txBody>
          <a:bodyPr>
            <a:normAutofit/>
          </a:bodyPr>
          <a:lstStyle/>
          <a:p>
            <a:pPr marL="0" indent="0" algn="just">
              <a:buNone/>
            </a:pPr>
            <a:r>
              <a:rPr lang="en-US" sz="4000" dirty="0">
                <a:solidFill>
                  <a:schemeClr val="bg1"/>
                </a:solidFill>
                <a:latin typeface="Times New Roman"/>
                <a:cs typeface="Times New Roman"/>
              </a:rPr>
              <a:t>Advantages</a:t>
            </a:r>
          </a:p>
          <a:p>
            <a:pPr marL="342900" indent="-342900" algn="just">
              <a:buClr>
                <a:srgbClr val="FFFFFF"/>
              </a:buClr>
              <a:buFont typeface="Wingdings" panose="05040102010807070707" pitchFamily="18" charset="2"/>
              <a:buChar char="Ø"/>
            </a:pPr>
            <a:r>
              <a:rPr lang="en-US" dirty="0">
                <a:solidFill>
                  <a:schemeClr val="bg1"/>
                </a:solidFill>
                <a:latin typeface="Times New Roman"/>
                <a:ea typeface="+mn-lt"/>
                <a:cs typeface="+mn-lt"/>
              </a:rPr>
              <a:t>Better Treatment Planning: The more timely and accurate diagnosis</a:t>
            </a:r>
          </a:p>
          <a:p>
            <a:pPr marL="342900" indent="-342900" algn="just">
              <a:buClr>
                <a:srgbClr val="FFFFFF"/>
              </a:buClr>
              <a:buFont typeface="Wingdings" panose="05040102010807070707" pitchFamily="18" charset="2"/>
              <a:buChar char="Ø"/>
            </a:pPr>
            <a:r>
              <a:rPr lang="en-US" dirty="0">
                <a:solidFill>
                  <a:schemeClr val="bg1"/>
                </a:solidFill>
                <a:latin typeface="Times New Roman"/>
                <a:ea typeface="+mn-lt"/>
                <a:cs typeface="+mn-lt"/>
              </a:rPr>
              <a:t>Enhanced Visualization and Scrutiny: 3D heart modelling and assembly allows for better scrutiny of the cardiac regions, overcoming the limitation of 2D plots</a:t>
            </a:r>
          </a:p>
          <a:p>
            <a:pPr marL="342900" indent="-342900" algn="just">
              <a:buClr>
                <a:srgbClr val="FFFFFF"/>
              </a:buClr>
              <a:buFont typeface="Wingdings" panose="05040102010807070707" pitchFamily="18" charset="2"/>
              <a:buChar char="Ø"/>
            </a:pPr>
            <a:r>
              <a:rPr lang="en-US" dirty="0">
                <a:solidFill>
                  <a:schemeClr val="bg1"/>
                </a:solidFill>
                <a:latin typeface="Times New Roman"/>
                <a:ea typeface="+mn-lt"/>
                <a:cs typeface="+mn-lt"/>
              </a:rPr>
              <a:t>Highly Accurate Diagnosis: The system's CNN and MLP models achieve highly efficient classification, benchmarking up to 99.07% accuracy on datasets, leading to more reliable results.  </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dirty="0">
                <a:solidFill>
                  <a:schemeClr val="bg1"/>
                </a:solidFill>
                <a:latin typeface="Times New Roman"/>
                <a:ea typeface="+mn-lt"/>
                <a:cs typeface="+mn-lt"/>
              </a:rPr>
              <a:t>Reduced Diagnosis Time: Automated classification replaces time-consuming manual ECG feature extraction and examination, reducing  dependence on human interpretation of ECGs.</a:t>
            </a:r>
            <a:endParaRPr lang="en-US" dirty="0">
              <a:solidFill>
                <a:schemeClr val="bg1"/>
              </a:solidFill>
              <a:latin typeface="Times New Roman"/>
              <a:cs typeface="Times New Roman"/>
            </a:endParaRPr>
          </a:p>
        </p:txBody>
      </p:sp>
    </p:spTree>
    <p:extLst>
      <p:ext uri="{BB962C8B-B14F-4D97-AF65-F5344CB8AC3E}">
        <p14:creationId xmlns:p14="http://schemas.microsoft.com/office/powerpoint/2010/main" val="1418844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6959B-8D7A-DFB6-14B5-67E4A19BFC07}"/>
              </a:ext>
            </a:extLst>
          </p:cNvPr>
          <p:cNvSpPr>
            <a:spLocks noGrp="1"/>
          </p:cNvSpPr>
          <p:nvPr>
            <p:ph type="title"/>
          </p:nvPr>
        </p:nvSpPr>
        <p:spPr>
          <a:xfrm>
            <a:off x="787078" y="7322419"/>
            <a:ext cx="8431534" cy="5065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FBEF9B5-A132-DF0A-8C00-45E24CC6E32A}"/>
              </a:ext>
            </a:extLst>
          </p:cNvPr>
          <p:cNvSpPr>
            <a:spLocks noGrp="1"/>
          </p:cNvSpPr>
          <p:nvPr>
            <p:ph idx="1"/>
          </p:nvPr>
        </p:nvSpPr>
        <p:spPr/>
        <p:txBody>
          <a:bodyPr/>
          <a:lstStyle/>
          <a:p>
            <a:pPr marL="0" indent="0" algn="just">
              <a:buNone/>
            </a:pPr>
            <a:r>
              <a:rPr lang="en-US" sz="4000" dirty="0">
                <a:solidFill>
                  <a:schemeClr val="bg1"/>
                </a:solidFill>
                <a:latin typeface="Times New Roman" panose="02020603050405020304" pitchFamily="18" charset="0"/>
                <a:cs typeface="Times New Roman" panose="02020603050405020304" pitchFamily="18" charset="0"/>
              </a:rPr>
              <a:t>Conclusion</a:t>
            </a:r>
          </a:p>
          <a:p>
            <a:pPr marL="0" indent="0" algn="just">
              <a:buClr>
                <a:srgbClr val="FFFFFF"/>
              </a:buClr>
              <a:buNone/>
            </a:pPr>
            <a:endParaRPr lang="en-US" dirty="0">
              <a:solidFill>
                <a:schemeClr val="bg1"/>
              </a:solidFill>
              <a:latin typeface="Times New Roman" panose="02020603050405020304" pitchFamily="18" charset="0"/>
              <a:cs typeface="Times New Roman" panose="02020603050405020304" pitchFamily="18" charset="0"/>
            </a:endParaRPr>
          </a:p>
          <a:p>
            <a:pPr marL="342900" indent="-342900" algn="just">
              <a:buClr>
                <a:srgbClr val="FFFFFF"/>
              </a:buClr>
              <a:buFont typeface="Wingdings" panose="05040102010807070707" pitchFamily="18" charset="2"/>
              <a:buChar char="Ø"/>
            </a:pPr>
            <a:r>
              <a:rPr lang="en-US" dirty="0">
                <a:solidFill>
                  <a:schemeClr val="bg1"/>
                </a:solidFill>
                <a:latin typeface="Times New Roman" panose="02020603050405020304" pitchFamily="18" charset="0"/>
                <a:ea typeface="+mn-lt"/>
                <a:cs typeface="Times New Roman" panose="02020603050405020304" pitchFamily="18" charset="0"/>
              </a:rPr>
              <a:t>The </a:t>
            </a:r>
            <a:r>
              <a:rPr lang="en-US" dirty="0" err="1">
                <a:solidFill>
                  <a:schemeClr val="bg1"/>
                </a:solidFill>
                <a:latin typeface="Times New Roman" panose="02020603050405020304" pitchFamily="18" charset="0"/>
                <a:ea typeface="+mn-lt"/>
                <a:cs typeface="Times New Roman" panose="02020603050405020304" pitchFamily="18" charset="0"/>
              </a:rPr>
              <a:t>ArythmiAR</a:t>
            </a:r>
            <a:r>
              <a:rPr lang="en-US" dirty="0">
                <a:solidFill>
                  <a:schemeClr val="bg1"/>
                </a:solidFill>
                <a:latin typeface="Times New Roman" panose="02020603050405020304" pitchFamily="18" charset="0"/>
                <a:ea typeface="+mn-lt"/>
                <a:cs typeface="Times New Roman" panose="02020603050405020304" pitchFamily="18" charset="0"/>
              </a:rPr>
              <a:t> system represents a pivotal technological advancement in cardiovascular care. By successfully integrating Deep Learning (DL) for classification and Augmented Reality (AR) for visualization, this project addresses the critical need for timely and precise arrhythmia diagnosis.</a:t>
            </a:r>
          </a:p>
          <a:p>
            <a:pPr marL="342900" indent="-342900" algn="just">
              <a:buClr>
                <a:srgbClr val="FFFFFF"/>
              </a:buClr>
              <a:buFont typeface="Wingdings" panose="05040102010807070707" pitchFamily="18" charset="2"/>
              <a:buChar char="Ø"/>
            </a:pPr>
            <a:r>
              <a:rPr lang="en-US" dirty="0">
                <a:solidFill>
                  <a:schemeClr val="bg1"/>
                </a:solidFill>
                <a:latin typeface="Times New Roman" panose="02020603050405020304" pitchFamily="18" charset="0"/>
                <a:ea typeface="+mn-lt"/>
                <a:cs typeface="Times New Roman" panose="02020603050405020304" pitchFamily="18" charset="0"/>
              </a:rPr>
              <a:t> It moves diagnosis beyond limited 2D displays, utilizing AR to enable real-time, interactive 3D localization of arrhythmia anomalies within specific heart sub-regions.</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4266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F55FF-7A02-27A8-9DF3-EF390081C9ED}"/>
              </a:ext>
            </a:extLst>
          </p:cNvPr>
          <p:cNvSpPr>
            <a:spLocks noGrp="1"/>
          </p:cNvSpPr>
          <p:nvPr>
            <p:ph type="title"/>
          </p:nvPr>
        </p:nvSpPr>
        <p:spPr>
          <a:xfrm flipV="1">
            <a:off x="821802" y="7349923"/>
            <a:ext cx="8396809" cy="914400"/>
          </a:xfrm>
        </p:spPr>
        <p:txBody>
          <a:bodyPr/>
          <a:lstStyle/>
          <a:p>
            <a:endParaRPr lang="en-US" dirty="0"/>
          </a:p>
        </p:txBody>
      </p:sp>
      <p:sp>
        <p:nvSpPr>
          <p:cNvPr id="3" name="Content Placeholder 2">
            <a:extLst>
              <a:ext uri="{FF2B5EF4-FFF2-40B4-BE49-F238E27FC236}">
                <a16:creationId xmlns:a16="http://schemas.microsoft.com/office/drawing/2014/main" id="{0FE26819-34C3-D3EE-386D-2AA5F20BEBD9}"/>
              </a:ext>
            </a:extLst>
          </p:cNvPr>
          <p:cNvSpPr>
            <a:spLocks noGrp="1"/>
          </p:cNvSpPr>
          <p:nvPr>
            <p:ph idx="1"/>
          </p:nvPr>
        </p:nvSpPr>
        <p:spPr>
          <a:xfrm>
            <a:off x="2536295" y="1691216"/>
            <a:ext cx="7962900" cy="2609851"/>
          </a:xfrm>
        </p:spPr>
        <p:txBody>
          <a:bodyPr>
            <a:normAutofit/>
          </a:bodyPr>
          <a:lstStyle/>
          <a:p>
            <a:pPr marL="0" indent="0">
              <a:buNone/>
            </a:pPr>
            <a:r>
              <a:rPr lang="en-US" sz="7200" dirty="0">
                <a:solidFill>
                  <a:schemeClr val="bg1"/>
                </a:solidFill>
                <a:latin typeface="Times New Roman"/>
                <a:cs typeface="Times New Roman"/>
              </a:rPr>
              <a:t>      Thank you!</a:t>
            </a:r>
            <a:endParaRPr lang="en-US" dirty="0">
              <a:solidFill>
                <a:schemeClr val="bg1"/>
              </a:solidFill>
            </a:endParaRPr>
          </a:p>
        </p:txBody>
      </p:sp>
    </p:spTree>
    <p:extLst>
      <p:ext uri="{BB962C8B-B14F-4D97-AF65-F5344CB8AC3E}">
        <p14:creationId xmlns:p14="http://schemas.microsoft.com/office/powerpoint/2010/main" val="641846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C8EA00-37B1-688A-247B-92F45EEB6D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6343" y="351882"/>
            <a:ext cx="4637314" cy="6154235"/>
          </a:xfrm>
          <a:prstGeom prst="rect">
            <a:avLst/>
          </a:prstGeom>
        </p:spPr>
      </p:pic>
    </p:spTree>
    <p:extLst>
      <p:ext uri="{BB962C8B-B14F-4D97-AF65-F5344CB8AC3E}">
        <p14:creationId xmlns:p14="http://schemas.microsoft.com/office/powerpoint/2010/main" val="2164371827"/>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office theme</Template>
  <TotalTime>64</TotalTime>
  <Words>1002</Words>
  <Application>Microsoft Office PowerPoint</Application>
  <PresentationFormat>Widescreen</PresentationFormat>
  <Paragraphs>72</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Century Gothic</vt:lpstr>
      <vt:lpstr>Times New Roman</vt:lpstr>
      <vt:lpstr>Wingdings</vt:lpstr>
      <vt:lpstr>Wingdings 3</vt:lpstr>
      <vt:lpstr>Slice</vt:lpstr>
      <vt:lpstr>  Project Title:  Enhancing Arrhythmia Diagnosis Through  ECG    Deep   Learning Classification    Deploying    And Augmented   Reality   3D   Heart Visualization   And     Interaction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pranathi</dc:creator>
  <cp:lastModifiedBy>pranathi k</cp:lastModifiedBy>
  <cp:revision>438</cp:revision>
  <dcterms:created xsi:type="dcterms:W3CDTF">2025-11-26T15:11:27Z</dcterms:created>
  <dcterms:modified xsi:type="dcterms:W3CDTF">2026-03-09T06:51:05Z</dcterms:modified>
</cp:coreProperties>
</file>